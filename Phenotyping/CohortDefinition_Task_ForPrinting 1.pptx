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6"/>
  </p:notesMasterIdLst>
  <p:sldIdLst>
    <p:sldId id="966" r:id="rId2"/>
    <p:sldId id="968" r:id="rId3"/>
    <p:sldId id="969" r:id="rId4"/>
    <p:sldId id="97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1344BF-15DD-35C4-D3DB-9C2883C4A9A8}" name="Anna Ostropolets" initials="AO" userId="S::ostropolets@ohdsi.org::146c8c9c-8655-4651-9209-cfb245aa047d" providerId="AD"/>
  <p188:author id="{482CF6D8-F920-54B4-2765-95E65A9554C6}" name="Martí Català Sabaté (DARWIN EU® CC)" initials="MCS(EC" userId="S::m.catalasabate@darwin-eu.org::3e74dd76-af49-4eaf-831c-a6263f4d5d5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147"/>
    <a:srgbClr val="1B8DAC"/>
    <a:srgbClr val="1A55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929" autoAdjust="0"/>
  </p:normalViewPr>
  <p:slideViewPr>
    <p:cSldViewPr snapToGrid="0">
      <p:cViewPr varScale="1">
        <p:scale>
          <a:sx n="63" d="100"/>
          <a:sy n="63" d="100"/>
        </p:scale>
        <p:origin x="70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 Saura Lazaro" userId="cf3b5fea-f74d-49bc-8e05-a3978fbeb20d" providerId="ADAL" clId="{F21234F2-7902-4223-AD32-15D6AC04FB18}"/>
    <pc:docChg chg="custSel delSld modSld">
      <pc:chgData name="Anna Saura Lazaro" userId="cf3b5fea-f74d-49bc-8e05-a3978fbeb20d" providerId="ADAL" clId="{F21234F2-7902-4223-AD32-15D6AC04FB18}" dt="2026-06-19T11:16:42.524" v="32" actId="478"/>
      <pc:docMkLst>
        <pc:docMk/>
      </pc:docMkLst>
      <pc:sldChg chg="del">
        <pc:chgData name="Anna Saura Lazaro" userId="cf3b5fea-f74d-49bc-8e05-a3978fbeb20d" providerId="ADAL" clId="{F21234F2-7902-4223-AD32-15D6AC04FB18}" dt="2026-06-19T11:16:16.368" v="2" actId="47"/>
        <pc:sldMkLst>
          <pc:docMk/>
          <pc:sldMk cId="3043044192" sldId="256"/>
        </pc:sldMkLst>
      </pc:sldChg>
      <pc:sldChg chg="del">
        <pc:chgData name="Anna Saura Lazaro" userId="cf3b5fea-f74d-49bc-8e05-a3978fbeb20d" providerId="ADAL" clId="{F21234F2-7902-4223-AD32-15D6AC04FB18}" dt="2026-06-19T11:16:16.679" v="3" actId="47"/>
        <pc:sldMkLst>
          <pc:docMk/>
          <pc:sldMk cId="3413169561" sldId="258"/>
        </pc:sldMkLst>
      </pc:sldChg>
      <pc:sldChg chg="del">
        <pc:chgData name="Anna Saura Lazaro" userId="cf3b5fea-f74d-49bc-8e05-a3978fbeb20d" providerId="ADAL" clId="{F21234F2-7902-4223-AD32-15D6AC04FB18}" dt="2026-06-19T11:16:13.409" v="0" actId="47"/>
        <pc:sldMkLst>
          <pc:docMk/>
          <pc:sldMk cId="1538668727" sldId="582"/>
        </pc:sldMkLst>
      </pc:sldChg>
      <pc:sldChg chg="del">
        <pc:chgData name="Anna Saura Lazaro" userId="cf3b5fea-f74d-49bc-8e05-a3978fbeb20d" providerId="ADAL" clId="{F21234F2-7902-4223-AD32-15D6AC04FB18}" dt="2026-06-19T11:16:28.527" v="27" actId="47"/>
        <pc:sldMkLst>
          <pc:docMk/>
          <pc:sldMk cId="894585492" sldId="949"/>
        </pc:sldMkLst>
      </pc:sldChg>
      <pc:sldChg chg="del">
        <pc:chgData name="Anna Saura Lazaro" userId="cf3b5fea-f74d-49bc-8e05-a3978fbeb20d" providerId="ADAL" clId="{F21234F2-7902-4223-AD32-15D6AC04FB18}" dt="2026-06-19T11:16:23.595" v="23" actId="47"/>
        <pc:sldMkLst>
          <pc:docMk/>
          <pc:sldMk cId="2520861263" sldId="952"/>
        </pc:sldMkLst>
      </pc:sldChg>
      <pc:sldChg chg="del">
        <pc:chgData name="Anna Saura Lazaro" userId="cf3b5fea-f74d-49bc-8e05-a3978fbeb20d" providerId="ADAL" clId="{F21234F2-7902-4223-AD32-15D6AC04FB18}" dt="2026-06-19T11:16:24.484" v="24" actId="47"/>
        <pc:sldMkLst>
          <pc:docMk/>
          <pc:sldMk cId="2687266785" sldId="953"/>
        </pc:sldMkLst>
      </pc:sldChg>
      <pc:sldChg chg="del">
        <pc:chgData name="Anna Saura Lazaro" userId="cf3b5fea-f74d-49bc-8e05-a3978fbeb20d" providerId="ADAL" clId="{F21234F2-7902-4223-AD32-15D6AC04FB18}" dt="2026-06-19T11:16:25.692" v="25" actId="47"/>
        <pc:sldMkLst>
          <pc:docMk/>
          <pc:sldMk cId="2557938208" sldId="954"/>
        </pc:sldMkLst>
      </pc:sldChg>
      <pc:sldChg chg="delSp mod">
        <pc:chgData name="Anna Saura Lazaro" userId="cf3b5fea-f74d-49bc-8e05-a3978fbeb20d" providerId="ADAL" clId="{F21234F2-7902-4223-AD32-15D6AC04FB18}" dt="2026-06-19T11:16:33.692" v="29" actId="478"/>
        <pc:sldMkLst>
          <pc:docMk/>
          <pc:sldMk cId="3851569190" sldId="966"/>
        </pc:sldMkLst>
        <pc:spChg chg="del">
          <ac:chgData name="Anna Saura Lazaro" userId="cf3b5fea-f74d-49bc-8e05-a3978fbeb20d" providerId="ADAL" clId="{F21234F2-7902-4223-AD32-15D6AC04FB18}" dt="2026-06-19T11:16:33.692" v="29" actId="478"/>
          <ac:spMkLst>
            <pc:docMk/>
            <pc:sldMk cId="3851569190" sldId="966"/>
            <ac:spMk id="5" creationId="{21E238BD-8BA5-172B-BB10-AAA9FEB3F4DA}"/>
          </ac:spMkLst>
        </pc:spChg>
      </pc:sldChg>
      <pc:sldChg chg="delSp mod">
        <pc:chgData name="Anna Saura Lazaro" userId="cf3b5fea-f74d-49bc-8e05-a3978fbeb20d" providerId="ADAL" clId="{F21234F2-7902-4223-AD32-15D6AC04FB18}" dt="2026-06-19T11:16:36.161" v="30" actId="478"/>
        <pc:sldMkLst>
          <pc:docMk/>
          <pc:sldMk cId="3047129814" sldId="968"/>
        </pc:sldMkLst>
        <pc:spChg chg="del">
          <ac:chgData name="Anna Saura Lazaro" userId="cf3b5fea-f74d-49bc-8e05-a3978fbeb20d" providerId="ADAL" clId="{F21234F2-7902-4223-AD32-15D6AC04FB18}" dt="2026-06-19T11:16:36.161" v="30" actId="478"/>
          <ac:spMkLst>
            <pc:docMk/>
            <pc:sldMk cId="3047129814" sldId="968"/>
            <ac:spMk id="5" creationId="{8B49B0CB-262A-2803-8B4C-5DEF1EEF5E17}"/>
          </ac:spMkLst>
        </pc:spChg>
      </pc:sldChg>
      <pc:sldChg chg="delSp mod">
        <pc:chgData name="Anna Saura Lazaro" userId="cf3b5fea-f74d-49bc-8e05-a3978fbeb20d" providerId="ADAL" clId="{F21234F2-7902-4223-AD32-15D6AC04FB18}" dt="2026-06-19T11:16:38.993" v="31" actId="478"/>
        <pc:sldMkLst>
          <pc:docMk/>
          <pc:sldMk cId="3847971988" sldId="969"/>
        </pc:sldMkLst>
        <pc:spChg chg="del">
          <ac:chgData name="Anna Saura Lazaro" userId="cf3b5fea-f74d-49bc-8e05-a3978fbeb20d" providerId="ADAL" clId="{F21234F2-7902-4223-AD32-15D6AC04FB18}" dt="2026-06-19T11:16:38.993" v="31" actId="478"/>
          <ac:spMkLst>
            <pc:docMk/>
            <pc:sldMk cId="3847971988" sldId="969"/>
            <ac:spMk id="5" creationId="{37A8A01E-DC56-2F60-279E-17C36E910ACE}"/>
          </ac:spMkLst>
        </pc:spChg>
      </pc:sldChg>
      <pc:sldChg chg="delSp mod">
        <pc:chgData name="Anna Saura Lazaro" userId="cf3b5fea-f74d-49bc-8e05-a3978fbeb20d" providerId="ADAL" clId="{F21234F2-7902-4223-AD32-15D6AC04FB18}" dt="2026-06-19T11:16:42.524" v="32" actId="478"/>
        <pc:sldMkLst>
          <pc:docMk/>
          <pc:sldMk cId="1883876756" sldId="970"/>
        </pc:sldMkLst>
        <pc:spChg chg="del">
          <ac:chgData name="Anna Saura Lazaro" userId="cf3b5fea-f74d-49bc-8e05-a3978fbeb20d" providerId="ADAL" clId="{F21234F2-7902-4223-AD32-15D6AC04FB18}" dt="2026-06-19T11:16:42.524" v="32" actId="478"/>
          <ac:spMkLst>
            <pc:docMk/>
            <pc:sldMk cId="1883876756" sldId="970"/>
            <ac:spMk id="5" creationId="{2BD4BD65-2AC5-BE02-B715-5F0D3E3ACAAF}"/>
          </ac:spMkLst>
        </pc:spChg>
      </pc:sldChg>
      <pc:sldChg chg="del">
        <pc:chgData name="Anna Saura Lazaro" userId="cf3b5fea-f74d-49bc-8e05-a3978fbeb20d" providerId="ADAL" clId="{F21234F2-7902-4223-AD32-15D6AC04FB18}" dt="2026-06-19T11:16:29.173" v="28" actId="47"/>
        <pc:sldMkLst>
          <pc:docMk/>
          <pc:sldMk cId="958793815" sldId="972"/>
        </pc:sldMkLst>
      </pc:sldChg>
      <pc:sldChg chg="del">
        <pc:chgData name="Anna Saura Lazaro" userId="cf3b5fea-f74d-49bc-8e05-a3978fbeb20d" providerId="ADAL" clId="{F21234F2-7902-4223-AD32-15D6AC04FB18}" dt="2026-06-19T11:16:26.408" v="26" actId="47"/>
        <pc:sldMkLst>
          <pc:docMk/>
          <pc:sldMk cId="4283481016" sldId="1389"/>
        </pc:sldMkLst>
      </pc:sldChg>
      <pc:sldChg chg="del">
        <pc:chgData name="Anna Saura Lazaro" userId="cf3b5fea-f74d-49bc-8e05-a3978fbeb20d" providerId="ADAL" clId="{F21234F2-7902-4223-AD32-15D6AC04FB18}" dt="2026-06-19T11:16:13.698" v="1" actId="47"/>
        <pc:sldMkLst>
          <pc:docMk/>
          <pc:sldMk cId="3481344638" sldId="2147374314"/>
        </pc:sldMkLst>
      </pc:sldChg>
      <pc:sldChg chg="del">
        <pc:chgData name="Anna Saura Lazaro" userId="cf3b5fea-f74d-49bc-8e05-a3978fbeb20d" providerId="ADAL" clId="{F21234F2-7902-4223-AD32-15D6AC04FB18}" dt="2026-06-19T11:16:18.521" v="7" actId="47"/>
        <pc:sldMkLst>
          <pc:docMk/>
          <pc:sldMk cId="294597912" sldId="2147374315"/>
        </pc:sldMkLst>
      </pc:sldChg>
      <pc:sldChg chg="del">
        <pc:chgData name="Anna Saura Lazaro" userId="cf3b5fea-f74d-49bc-8e05-a3978fbeb20d" providerId="ADAL" clId="{F21234F2-7902-4223-AD32-15D6AC04FB18}" dt="2026-06-19T11:16:18.843" v="8" actId="47"/>
        <pc:sldMkLst>
          <pc:docMk/>
          <pc:sldMk cId="3587317363" sldId="2147374316"/>
        </pc:sldMkLst>
      </pc:sldChg>
      <pc:sldChg chg="del">
        <pc:chgData name="Anna Saura Lazaro" userId="cf3b5fea-f74d-49bc-8e05-a3978fbeb20d" providerId="ADAL" clId="{F21234F2-7902-4223-AD32-15D6AC04FB18}" dt="2026-06-19T11:16:18.011" v="6" actId="47"/>
        <pc:sldMkLst>
          <pc:docMk/>
          <pc:sldMk cId="2023547157" sldId="2147470410"/>
        </pc:sldMkLst>
      </pc:sldChg>
      <pc:sldChg chg="del">
        <pc:chgData name="Anna Saura Lazaro" userId="cf3b5fea-f74d-49bc-8e05-a3978fbeb20d" providerId="ADAL" clId="{F21234F2-7902-4223-AD32-15D6AC04FB18}" dt="2026-06-19T11:16:19.296" v="9" actId="47"/>
        <pc:sldMkLst>
          <pc:docMk/>
          <pc:sldMk cId="1653104795" sldId="2147470413"/>
        </pc:sldMkLst>
      </pc:sldChg>
      <pc:sldChg chg="del">
        <pc:chgData name="Anna Saura Lazaro" userId="cf3b5fea-f74d-49bc-8e05-a3978fbeb20d" providerId="ADAL" clId="{F21234F2-7902-4223-AD32-15D6AC04FB18}" dt="2026-06-19T11:16:22.634" v="22" actId="47"/>
        <pc:sldMkLst>
          <pc:docMk/>
          <pc:sldMk cId="251170422" sldId="2147470415"/>
        </pc:sldMkLst>
      </pc:sldChg>
      <pc:sldChg chg="del">
        <pc:chgData name="Anna Saura Lazaro" userId="cf3b5fea-f74d-49bc-8e05-a3978fbeb20d" providerId="ADAL" clId="{F21234F2-7902-4223-AD32-15D6AC04FB18}" dt="2026-06-19T11:16:17.006" v="4" actId="47"/>
        <pc:sldMkLst>
          <pc:docMk/>
          <pc:sldMk cId="1290832910" sldId="2147470416"/>
        </pc:sldMkLst>
      </pc:sldChg>
      <pc:sldChg chg="del">
        <pc:chgData name="Anna Saura Lazaro" userId="cf3b5fea-f74d-49bc-8e05-a3978fbeb20d" providerId="ADAL" clId="{F21234F2-7902-4223-AD32-15D6AC04FB18}" dt="2026-06-19T11:16:17.496" v="5" actId="47"/>
        <pc:sldMkLst>
          <pc:docMk/>
          <pc:sldMk cId="928708697" sldId="2147470418"/>
        </pc:sldMkLst>
      </pc:sldChg>
      <pc:sldChg chg="del">
        <pc:chgData name="Anna Saura Lazaro" userId="cf3b5fea-f74d-49bc-8e05-a3978fbeb20d" providerId="ADAL" clId="{F21234F2-7902-4223-AD32-15D6AC04FB18}" dt="2026-06-19T11:16:21.354" v="17" actId="47"/>
        <pc:sldMkLst>
          <pc:docMk/>
          <pc:sldMk cId="3165585479" sldId="2147470419"/>
        </pc:sldMkLst>
      </pc:sldChg>
      <pc:sldChg chg="del">
        <pc:chgData name="Anna Saura Lazaro" userId="cf3b5fea-f74d-49bc-8e05-a3978fbeb20d" providerId="ADAL" clId="{F21234F2-7902-4223-AD32-15D6AC04FB18}" dt="2026-06-19T11:16:21.089" v="16" actId="47"/>
        <pc:sldMkLst>
          <pc:docMk/>
          <pc:sldMk cId="3195755906" sldId="2147470420"/>
        </pc:sldMkLst>
      </pc:sldChg>
      <pc:sldChg chg="del">
        <pc:chgData name="Anna Saura Lazaro" userId="cf3b5fea-f74d-49bc-8e05-a3978fbeb20d" providerId="ADAL" clId="{F21234F2-7902-4223-AD32-15D6AC04FB18}" dt="2026-06-19T11:16:21.820" v="19" actId="47"/>
        <pc:sldMkLst>
          <pc:docMk/>
          <pc:sldMk cId="4130454700" sldId="2147470421"/>
        </pc:sldMkLst>
      </pc:sldChg>
      <pc:sldChg chg="del">
        <pc:chgData name="Anna Saura Lazaro" userId="cf3b5fea-f74d-49bc-8e05-a3978fbeb20d" providerId="ADAL" clId="{F21234F2-7902-4223-AD32-15D6AC04FB18}" dt="2026-06-19T11:16:20.364" v="13" actId="47"/>
        <pc:sldMkLst>
          <pc:docMk/>
          <pc:sldMk cId="2472237198" sldId="2147470422"/>
        </pc:sldMkLst>
      </pc:sldChg>
      <pc:sldChg chg="del">
        <pc:chgData name="Anna Saura Lazaro" userId="cf3b5fea-f74d-49bc-8e05-a3978fbeb20d" providerId="ADAL" clId="{F21234F2-7902-4223-AD32-15D6AC04FB18}" dt="2026-06-19T11:16:19.578" v="10" actId="47"/>
        <pc:sldMkLst>
          <pc:docMk/>
          <pc:sldMk cId="2026086919" sldId="2147470423"/>
        </pc:sldMkLst>
      </pc:sldChg>
      <pc:sldChg chg="del">
        <pc:chgData name="Anna Saura Lazaro" userId="cf3b5fea-f74d-49bc-8e05-a3978fbeb20d" providerId="ADAL" clId="{F21234F2-7902-4223-AD32-15D6AC04FB18}" dt="2026-06-19T11:16:19.857" v="11" actId="47"/>
        <pc:sldMkLst>
          <pc:docMk/>
          <pc:sldMk cId="4268768574" sldId="2147470425"/>
        </pc:sldMkLst>
      </pc:sldChg>
      <pc:sldChg chg="del">
        <pc:chgData name="Anna Saura Lazaro" userId="cf3b5fea-f74d-49bc-8e05-a3978fbeb20d" providerId="ADAL" clId="{F21234F2-7902-4223-AD32-15D6AC04FB18}" dt="2026-06-19T11:16:20.160" v="12" actId="47"/>
        <pc:sldMkLst>
          <pc:docMk/>
          <pc:sldMk cId="3106538077" sldId="2147470426"/>
        </pc:sldMkLst>
      </pc:sldChg>
      <pc:sldChg chg="del">
        <pc:chgData name="Anna Saura Lazaro" userId="cf3b5fea-f74d-49bc-8e05-a3978fbeb20d" providerId="ADAL" clId="{F21234F2-7902-4223-AD32-15D6AC04FB18}" dt="2026-06-19T11:16:20.616" v="14" actId="47"/>
        <pc:sldMkLst>
          <pc:docMk/>
          <pc:sldMk cId="160759376" sldId="2147470427"/>
        </pc:sldMkLst>
      </pc:sldChg>
      <pc:sldChg chg="del">
        <pc:chgData name="Anna Saura Lazaro" userId="cf3b5fea-f74d-49bc-8e05-a3978fbeb20d" providerId="ADAL" clId="{F21234F2-7902-4223-AD32-15D6AC04FB18}" dt="2026-06-19T11:16:20.871" v="15" actId="47"/>
        <pc:sldMkLst>
          <pc:docMk/>
          <pc:sldMk cId="2996135666" sldId="2147470428"/>
        </pc:sldMkLst>
      </pc:sldChg>
      <pc:sldChg chg="del">
        <pc:chgData name="Anna Saura Lazaro" userId="cf3b5fea-f74d-49bc-8e05-a3978fbeb20d" providerId="ADAL" clId="{F21234F2-7902-4223-AD32-15D6AC04FB18}" dt="2026-06-19T11:16:22.115" v="20" actId="47"/>
        <pc:sldMkLst>
          <pc:docMk/>
          <pc:sldMk cId="671541989" sldId="2147470430"/>
        </pc:sldMkLst>
      </pc:sldChg>
      <pc:sldChg chg="del">
        <pc:chgData name="Anna Saura Lazaro" userId="cf3b5fea-f74d-49bc-8e05-a3978fbeb20d" providerId="ADAL" clId="{F21234F2-7902-4223-AD32-15D6AC04FB18}" dt="2026-06-19T11:16:22.386" v="21" actId="47"/>
        <pc:sldMkLst>
          <pc:docMk/>
          <pc:sldMk cId="3699458037" sldId="2147470431"/>
        </pc:sldMkLst>
      </pc:sldChg>
      <pc:sldChg chg="del">
        <pc:chgData name="Anna Saura Lazaro" userId="cf3b5fea-f74d-49bc-8e05-a3978fbeb20d" providerId="ADAL" clId="{F21234F2-7902-4223-AD32-15D6AC04FB18}" dt="2026-06-19T11:16:21.547" v="18" actId="47"/>
        <pc:sldMkLst>
          <pc:docMk/>
          <pc:sldMk cId="4107205744" sldId="214747043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B13B83-EF2F-4E44-9553-6915159000F6}" type="datetimeFigureOut">
              <a:rPr lang="en-GB" smtClean="0"/>
              <a:t>19/06/2026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2E86C8-2229-476F-8542-BA2C870596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5734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C3CA2-EACC-6DF8-BDB8-48EE50075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A16CC6-0A6C-C798-1947-3E9B35A286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C1577A-4543-2768-1BCB-AC67EC7079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B50A4-0D4A-3F61-CAE0-9C71E239BE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E86C8-2229-476F-8542-BA2C87059635}" type="slidenum">
              <a:rPr lang="en-GB" smtClean="0"/>
              <a:t>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418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0774B-6564-404F-35A1-0DD51D106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15730F-2AAE-954E-4CAF-62CD7A5FA9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E1B7E1-42E9-ABF0-2746-55C732804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18A47-0CC5-8FB3-49A2-696A444FA0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E86C8-2229-476F-8542-BA2C8705963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48940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C00E8-79D4-A27B-7C87-C889116F7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48147E-B206-7F09-9629-566A655942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1335CE-D939-2FCF-332E-F343DEE7E1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790F9-5960-31AB-0408-F597FC41ED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E86C8-2229-476F-8542-BA2C8705963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69246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969EF-E0C4-5BA6-9184-0BECF7398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8D0BB1-62DD-265C-0F82-16111B26D2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4DA765-811D-6858-5AEA-A74CC8B2B7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01D087-0385-6FD9-CFF7-0EB7D8D93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E86C8-2229-476F-8542-BA2C8705963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2583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6F37B-575F-4571-942A-18FC73DDF0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17703D-01CF-49F4-B2E5-10106A1D3B4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014656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</a:t>
            </a:r>
          </a:p>
          <a:p>
            <a:r>
              <a:rPr lang="en-US"/>
              <a:t>Date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64610-F3CF-426E-933E-FC2C4DE2C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19120" y="6356350"/>
            <a:ext cx="5034280" cy="365125"/>
          </a:xfrm>
        </p:spPr>
        <p:txBody>
          <a:bodyPr/>
          <a:lstStyle>
            <a:lvl1pPr>
              <a:defRPr sz="1600"/>
            </a:lvl1pPr>
          </a:lstStyle>
          <a:p>
            <a:r>
              <a:rPr lang="en-GB" sz="1600"/>
              <a:t>Real World Evidence using the OMOP Common Data Model</a:t>
            </a:r>
          </a:p>
        </p:txBody>
      </p:sp>
    </p:spTree>
    <p:extLst>
      <p:ext uri="{BB962C8B-B14F-4D97-AF65-F5344CB8AC3E}">
        <p14:creationId xmlns:p14="http://schemas.microsoft.com/office/powerpoint/2010/main" val="3920732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F7BAB-B57C-441D-9CAE-71DA8CC3B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398329" cy="732155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2E486-030A-4817-AB1B-DB32ECF1E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6493"/>
            <a:ext cx="10515600" cy="4930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6990C-CD34-4906-915A-731FE49A7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 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AA3BF-F729-481C-BDC1-21826FE2A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en-GB" b="0" i="0" u="none" strike="noStrike" smtClean="0">
                <a:effectLst/>
              </a:defRPr>
            </a:lvl1pPr>
          </a:lstStyle>
          <a:p>
            <a:r>
              <a:rPr lang="en-GB"/>
              <a:t>Real World Evidence using the OMOP Common Data Model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0EE4A-72EA-4640-8FFC-7E98647DB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2" descr="University of Oxford Employees, Location, Alumni | LinkedIn">
            <a:extLst>
              <a:ext uri="{FF2B5EF4-FFF2-40B4-BE49-F238E27FC236}">
                <a16:creationId xmlns:a16="http://schemas.microsoft.com/office/drawing/2014/main" id="{18949BAF-BD51-271B-2B6E-F45249E915E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3581" y="279125"/>
            <a:ext cx="821958" cy="82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3DD264-6739-95CA-286A-9FEEA750637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8609" y="260673"/>
            <a:ext cx="762892" cy="88136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5FE363-CD8A-9341-BCAB-B70DF46C80EF}"/>
              </a:ext>
            </a:extLst>
          </p:cNvPr>
          <p:cNvCxnSpPr>
            <a:cxnSpLocks/>
          </p:cNvCxnSpPr>
          <p:nvPr userDrawn="1"/>
        </p:nvCxnSpPr>
        <p:spPr>
          <a:xfrm>
            <a:off x="-20320" y="1162361"/>
            <a:ext cx="12212320" cy="0"/>
          </a:xfrm>
          <a:prstGeom prst="line">
            <a:avLst/>
          </a:prstGeom>
          <a:ln w="19050">
            <a:solidFill>
              <a:srgbClr val="00214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408084A-6365-585F-F400-9A3BE1DDD8DE}"/>
              </a:ext>
            </a:extLst>
          </p:cNvPr>
          <p:cNvCxnSpPr>
            <a:cxnSpLocks/>
          </p:cNvCxnSpPr>
          <p:nvPr userDrawn="1"/>
        </p:nvCxnSpPr>
        <p:spPr>
          <a:xfrm>
            <a:off x="-10160" y="6252204"/>
            <a:ext cx="12212320" cy="0"/>
          </a:xfrm>
          <a:prstGeom prst="line">
            <a:avLst/>
          </a:prstGeom>
          <a:ln w="19050">
            <a:solidFill>
              <a:srgbClr val="00214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958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7F66E-D954-40F8-BE7C-BDF86E22F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86DD7-1655-4D67-91F5-6F63E25F7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5950D-1A0E-4F77-9AF0-59A951209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 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79825-BEE9-4897-8240-A13C75099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Real World Evidence using the OMOP Common Data Model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A3D59-BF76-437D-A470-CC0D5E879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9128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7C1A7-A326-42C2-8C9C-D5EED3998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309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33394-7C77-429A-8C5F-C5825D1655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66507"/>
            <a:ext cx="5181600" cy="49104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443B40-DF80-4788-98FC-BB7DD90F8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46186"/>
            <a:ext cx="5181600" cy="4930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EB031C-D466-401F-B034-D68CC131B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 June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4860D-36E3-4660-A9AF-DBF89497C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Real World Evidence using the OMOP Common Data Model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EC9C42-9C73-4F53-B3F4-271EA3E92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2" descr="University of Oxford Employees, Location, Alumni | LinkedIn">
            <a:extLst>
              <a:ext uri="{FF2B5EF4-FFF2-40B4-BE49-F238E27FC236}">
                <a16:creationId xmlns:a16="http://schemas.microsoft.com/office/drawing/2014/main" id="{767FC830-ED0B-AA2E-D116-04D563B1513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3581" y="279125"/>
            <a:ext cx="821958" cy="82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9697CD-F354-41FA-6FDB-B25E9EE09F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8609" y="260673"/>
            <a:ext cx="762892" cy="88136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428E928-181D-E1F3-55E8-DEB2E0AF964C}"/>
              </a:ext>
            </a:extLst>
          </p:cNvPr>
          <p:cNvCxnSpPr>
            <a:cxnSpLocks/>
          </p:cNvCxnSpPr>
          <p:nvPr userDrawn="1"/>
        </p:nvCxnSpPr>
        <p:spPr>
          <a:xfrm>
            <a:off x="-20320" y="1162361"/>
            <a:ext cx="12212320" cy="0"/>
          </a:xfrm>
          <a:prstGeom prst="line">
            <a:avLst/>
          </a:prstGeom>
          <a:ln w="19050">
            <a:solidFill>
              <a:srgbClr val="00214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342290D-9A2C-8B2C-47B4-A5BD3FE0C673}"/>
              </a:ext>
            </a:extLst>
          </p:cNvPr>
          <p:cNvCxnSpPr>
            <a:cxnSpLocks/>
          </p:cNvCxnSpPr>
          <p:nvPr userDrawn="1"/>
        </p:nvCxnSpPr>
        <p:spPr>
          <a:xfrm>
            <a:off x="-10160" y="6252204"/>
            <a:ext cx="12212320" cy="0"/>
          </a:xfrm>
          <a:prstGeom prst="line">
            <a:avLst/>
          </a:prstGeom>
          <a:ln w="19050">
            <a:solidFill>
              <a:srgbClr val="00214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1126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D571B-FB0A-4E68-B2E3-5DD4035A6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69309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653BA-69DB-4038-8CC0-817FC8740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287136"/>
            <a:ext cx="5157787" cy="57214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90250C-6E2C-4DAF-B8DE-CF3A1B5D2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984054"/>
            <a:ext cx="5157787" cy="42056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8B3403-C7B9-413B-A680-1087DBAA3A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276976"/>
            <a:ext cx="5183188" cy="572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1C5B2E-F364-4024-8730-A0F6B9A957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84046"/>
            <a:ext cx="5183188" cy="42056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F9A2A4-9571-4FE9-8847-A4A036867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 June 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A8A260-10E0-411C-B230-9D5B35BB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Real World Evidence using the OMOP Common Data Model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91382E-E26B-4581-A37E-F546E89B5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2" descr="University of Oxford Employees, Location, Alumni | LinkedIn">
            <a:extLst>
              <a:ext uri="{FF2B5EF4-FFF2-40B4-BE49-F238E27FC236}">
                <a16:creationId xmlns:a16="http://schemas.microsoft.com/office/drawing/2014/main" id="{A4450457-EFFE-CBC3-A01A-503D72FD72E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3581" y="279125"/>
            <a:ext cx="821958" cy="82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AFEADD-E625-5841-50FC-79F79A4CB83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8609" y="260673"/>
            <a:ext cx="762892" cy="88136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1D485A9-CFF0-E5C0-08B2-996AC491CB3F}"/>
              </a:ext>
            </a:extLst>
          </p:cNvPr>
          <p:cNvCxnSpPr>
            <a:cxnSpLocks/>
          </p:cNvCxnSpPr>
          <p:nvPr userDrawn="1"/>
        </p:nvCxnSpPr>
        <p:spPr>
          <a:xfrm>
            <a:off x="-20320" y="1162361"/>
            <a:ext cx="12212320" cy="0"/>
          </a:xfrm>
          <a:prstGeom prst="line">
            <a:avLst/>
          </a:prstGeom>
          <a:ln w="19050">
            <a:solidFill>
              <a:srgbClr val="00214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3A9A75-4A3A-360B-E66D-9612771E3485}"/>
              </a:ext>
            </a:extLst>
          </p:cNvPr>
          <p:cNvCxnSpPr>
            <a:cxnSpLocks/>
          </p:cNvCxnSpPr>
          <p:nvPr userDrawn="1"/>
        </p:nvCxnSpPr>
        <p:spPr>
          <a:xfrm>
            <a:off x="-10160" y="6252204"/>
            <a:ext cx="12212320" cy="0"/>
          </a:xfrm>
          <a:prstGeom prst="line">
            <a:avLst/>
          </a:prstGeom>
          <a:ln w="19050">
            <a:solidFill>
              <a:srgbClr val="00214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5512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22527-85AB-4163-8B63-86486F0CF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309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5EB747-1525-41A8-B8CA-3ED9D3774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 June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95B177-FF99-40EB-81B0-C5777BF1D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Real World Evidence using the OMOP Common Data Model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5DC663-A61B-48AB-A1CE-13CE5AB0C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2" descr="University of Oxford Employees, Location, Alumni | LinkedIn">
            <a:extLst>
              <a:ext uri="{FF2B5EF4-FFF2-40B4-BE49-F238E27FC236}">
                <a16:creationId xmlns:a16="http://schemas.microsoft.com/office/drawing/2014/main" id="{1B81F09D-6A64-B81F-69CC-0A0D35FFE69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3581" y="279125"/>
            <a:ext cx="821958" cy="821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B066BF-9819-851D-8A76-8E509AC9BC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8609" y="260673"/>
            <a:ext cx="762892" cy="881368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9C0502F-F549-E7F4-B754-A5A14EAF063F}"/>
              </a:ext>
            </a:extLst>
          </p:cNvPr>
          <p:cNvCxnSpPr>
            <a:cxnSpLocks/>
          </p:cNvCxnSpPr>
          <p:nvPr userDrawn="1"/>
        </p:nvCxnSpPr>
        <p:spPr>
          <a:xfrm>
            <a:off x="-20320" y="1162361"/>
            <a:ext cx="12212320" cy="0"/>
          </a:xfrm>
          <a:prstGeom prst="line">
            <a:avLst/>
          </a:prstGeom>
          <a:ln w="19050">
            <a:solidFill>
              <a:srgbClr val="00214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1DAE069-9B43-58E9-55EA-CEC3C520E2A2}"/>
              </a:ext>
            </a:extLst>
          </p:cNvPr>
          <p:cNvCxnSpPr>
            <a:cxnSpLocks/>
          </p:cNvCxnSpPr>
          <p:nvPr userDrawn="1"/>
        </p:nvCxnSpPr>
        <p:spPr>
          <a:xfrm>
            <a:off x="-10160" y="6252204"/>
            <a:ext cx="12212320" cy="0"/>
          </a:xfrm>
          <a:prstGeom prst="line">
            <a:avLst/>
          </a:prstGeom>
          <a:ln w="19050">
            <a:solidFill>
              <a:srgbClr val="00214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8802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5136DB-1537-4A24-B38D-A9C79DABA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 June 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35F4AE-BC45-4E73-8843-9CC0D8CAD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Real World Evidence using the OMOP Common Data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31560-3D45-4B58-A521-73CA0F179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0847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8F238-B6D2-42EA-9CBE-277C990A4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5D90D-8439-4D5E-BFDB-1EC45A26C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CECE46-7AC4-4061-B5F6-F339ED5B5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ED6A3-C87A-4F1B-A15C-F5F9334B5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 June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0B1EFB-470F-4DCB-8026-04C3A0D36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Real World Evidence using the OMOP Common Data Model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BD87A2-5B19-4D0C-BF79-ED58A1A54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1811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53CA3-785D-4DBF-BB0E-437E5AD1C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555ECD-6E32-4A5C-802A-9535AC91A6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636856-41DA-419A-ABE5-FADEED441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72852-8AE1-498E-B285-AAD0A1912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 June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35B233-3F86-4B16-BA58-E3B9B2E42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Real World Evidence using the OMOP Common Data Model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74A458-CEAD-4242-B579-E96C7AF5A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7058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6BF67-08A3-4A0C-98DF-7C974BB35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B3CD55-9B95-49AB-B50C-0DA7EB03E6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D8855-2180-4C44-A600-CFBED5A6E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 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F36EB-7FFB-4DCD-9F02-C4CE3CE52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Real World Evidence using the OMOP Common Data Model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F7C60-AD56-4E96-B0B2-BA42BCDF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037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CFBA06-819F-4518-A2E6-33E5D5D0A0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4E117D-AD28-49FE-A914-DE7F92495A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E8B3C-EC0C-47A3-8DBC-7A00059D1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22 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B66B6-5443-4FDC-9F60-81315CABB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Real World Evidence using the OMOP Common Data Model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1EB6F-D754-45CA-8EF7-55A344F1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210D3-905D-4030-A2D7-E16ADAFF4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4206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BAADF8-BCEC-41A7-85FE-E17B74A05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F635F-23FA-413E-BA96-6D6CEF7C9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FD78A-6950-479F-AA7C-0CCC905F52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22 June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F9A35-8FF0-42A2-A8FC-5DEB33831F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Real World Evidence using the OMOP Common Data Model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BCC59-0E4E-48CB-97F1-842534B936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D210D3-905D-4030-A2D7-E16ADAFF4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7285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93896-B181-48E6-3901-8D2073AF5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A1573B-0589-4938-866B-98A9D493F86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/>
            <a:r>
              <a:rPr lang="en-GB" sz="3200" dirty="0"/>
              <a:t>What is long-term risk of stroke in patients with atrial fibrillation  and hypertension?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5259A9C-494C-0B44-C1DE-64566FDE581B}"/>
              </a:ext>
            </a:extLst>
          </p:cNvPr>
          <p:cNvSpPr txBox="1">
            <a:spLocks/>
          </p:cNvSpPr>
          <p:nvPr/>
        </p:nvSpPr>
        <p:spPr>
          <a:xfrm>
            <a:off x="567855" y="418067"/>
            <a:ext cx="10515600" cy="604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Research questions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48F60BF-55AC-DF62-3BE3-F51B9A5F3C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 dirty="0"/>
              <a:t>22-24 June 2026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7DE8C38-0966-6F85-FCC6-2D18631E4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/>
              <a:t>Real World Evidence using the OMOP Common Data Model</a:t>
            </a:r>
          </a:p>
        </p:txBody>
      </p:sp>
    </p:spTree>
    <p:extLst>
      <p:ext uri="{BB962C8B-B14F-4D97-AF65-F5344CB8AC3E}">
        <p14:creationId xmlns:p14="http://schemas.microsoft.com/office/powerpoint/2010/main" val="3851569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18955-48AB-1BAC-6DFF-6FB1B3DFD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D7E32C-9F6D-4CE0-6048-40D25DB2F39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/>
            <a:r>
              <a:rPr lang="en-GB" sz="3200" dirty="0"/>
              <a:t>Among patients with hypertension, what is the 5-year risk of heart failure after initiating ACE inhibitors?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B65F972-480F-2CD6-312F-52FC113281C4}"/>
              </a:ext>
            </a:extLst>
          </p:cNvPr>
          <p:cNvSpPr txBox="1">
            <a:spLocks/>
          </p:cNvSpPr>
          <p:nvPr/>
        </p:nvSpPr>
        <p:spPr>
          <a:xfrm>
            <a:off x="567855" y="418067"/>
            <a:ext cx="10515600" cy="604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Research questions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47AF35F-8F3D-EE58-F3B8-18AB38CFF6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 dirty="0"/>
              <a:t>22-24 June 2026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D0313E3-DF83-288C-EFDE-65CC58079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/>
              <a:t>Real World Evidence using the OMOP Common Data Model</a:t>
            </a:r>
          </a:p>
        </p:txBody>
      </p:sp>
    </p:spTree>
    <p:extLst>
      <p:ext uri="{BB962C8B-B14F-4D97-AF65-F5344CB8AC3E}">
        <p14:creationId xmlns:p14="http://schemas.microsoft.com/office/powerpoint/2010/main" val="3047129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721BF-1A9C-EF5E-868F-BB1FD3EA3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4FB739-CAC0-408E-B3EC-DDD34FC46D4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/>
            <a:r>
              <a:rPr lang="en-GB" sz="3200" dirty="0"/>
              <a:t>What is the risk of developing heart failure in patients with acute pericarditis?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5C35C63-8A68-AB48-0A13-D70D61E06622}"/>
              </a:ext>
            </a:extLst>
          </p:cNvPr>
          <p:cNvSpPr txBox="1">
            <a:spLocks/>
          </p:cNvSpPr>
          <p:nvPr/>
        </p:nvSpPr>
        <p:spPr>
          <a:xfrm>
            <a:off x="567855" y="418067"/>
            <a:ext cx="10515600" cy="604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Research questions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D34E547-A26E-5E1A-2C40-650C78FFA1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 dirty="0"/>
              <a:t>22-24 June 2026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8AD67CC-2BF6-B92C-B400-FC392B6C7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/>
              <a:t>Real World Evidence using the OMOP Common Data Model</a:t>
            </a:r>
          </a:p>
        </p:txBody>
      </p:sp>
    </p:spTree>
    <p:extLst>
      <p:ext uri="{BB962C8B-B14F-4D97-AF65-F5344CB8AC3E}">
        <p14:creationId xmlns:p14="http://schemas.microsoft.com/office/powerpoint/2010/main" val="3847971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5F802-6BE4-F52E-5692-E85094EEC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9EA424-423C-EAC4-36F7-F7EBBC66B98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/>
            <a:r>
              <a:rPr lang="en-GB" sz="3200" dirty="0"/>
              <a:t>What is the 1-year mortality rate for patients diagnosed with myocardial infarction?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704FE8D-E33C-9AD5-9771-331C67888348}"/>
              </a:ext>
            </a:extLst>
          </p:cNvPr>
          <p:cNvSpPr txBox="1">
            <a:spLocks/>
          </p:cNvSpPr>
          <p:nvPr/>
        </p:nvSpPr>
        <p:spPr>
          <a:xfrm>
            <a:off x="567855" y="418067"/>
            <a:ext cx="10515600" cy="604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Research questions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B0B4A78-D31E-575B-BFE6-8CB619A7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 dirty="0"/>
              <a:t>22-24 June 2026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DE40B1A-AD85-9D4B-5ED5-74AF18737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/>
              <a:t>Real World Evidence using the OMOP Common Data Model</a:t>
            </a:r>
          </a:p>
        </p:txBody>
      </p:sp>
    </p:spTree>
    <p:extLst>
      <p:ext uri="{BB962C8B-B14F-4D97-AF65-F5344CB8AC3E}">
        <p14:creationId xmlns:p14="http://schemas.microsoft.com/office/powerpoint/2010/main" val="1883876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917</TotalTime>
  <Words>119</Words>
  <Application>Microsoft Office PowerPoint</Application>
  <PresentationFormat>Widescreen</PresentationFormat>
  <Paragraphs>20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landscaping and Feasibility</dc:title>
  <dc:creator>Annika Jodicke</dc:creator>
  <cp:lastModifiedBy>Anna Saura Lazaro</cp:lastModifiedBy>
  <cp:revision>2</cp:revision>
  <dcterms:created xsi:type="dcterms:W3CDTF">2024-06-12T08:36:41Z</dcterms:created>
  <dcterms:modified xsi:type="dcterms:W3CDTF">2026-06-19T11:16:47Z</dcterms:modified>
</cp:coreProperties>
</file>