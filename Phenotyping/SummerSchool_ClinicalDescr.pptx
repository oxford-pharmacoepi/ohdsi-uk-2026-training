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81" r:id="rId4"/>
    <p:sldId id="272" r:id="rId5"/>
    <p:sldId id="273" r:id="rId6"/>
    <p:sldId id="935" r:id="rId7"/>
    <p:sldId id="938" r:id="rId8"/>
    <p:sldId id="939" r:id="rId9"/>
    <p:sldId id="940" r:id="rId10"/>
    <p:sldId id="941" r:id="rId11"/>
    <p:sldId id="942" r:id="rId12"/>
    <p:sldId id="93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B8DAC"/>
    <a:srgbClr val="1A55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E4D563-D4C8-46DA-ABCD-8078BC8A390F}" v="1" dt="2026-06-19T16:20:49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 Prats Uribe" userId="524438a6-2adf-4725-abc0-3dede758fd98" providerId="ADAL" clId="{3EF31FFD-BA57-4500-A214-36C4F5FA2FE6}"/>
    <pc:docChg chg="addSld modSld">
      <pc:chgData name="Albert Prats Uribe" userId="524438a6-2adf-4725-abc0-3dede758fd98" providerId="ADAL" clId="{3EF31FFD-BA57-4500-A214-36C4F5FA2FE6}" dt="2026-06-19T16:21:01.139" v="5" actId="20577"/>
      <pc:docMkLst>
        <pc:docMk/>
      </pc:docMkLst>
      <pc:sldChg chg="modSp mod">
        <pc:chgData name="Albert Prats Uribe" userId="524438a6-2adf-4725-abc0-3dede758fd98" providerId="ADAL" clId="{3EF31FFD-BA57-4500-A214-36C4F5FA2FE6}" dt="2026-06-19T16:20:40.881" v="0" actId="6549"/>
        <pc:sldMkLst>
          <pc:docMk/>
          <pc:sldMk cId="3043044192" sldId="256"/>
        </pc:sldMkLst>
        <pc:spChg chg="mod">
          <ac:chgData name="Albert Prats Uribe" userId="524438a6-2adf-4725-abc0-3dede758fd98" providerId="ADAL" clId="{3EF31FFD-BA57-4500-A214-36C4F5FA2FE6}" dt="2026-06-19T16:20:40.881" v="0" actId="6549"/>
          <ac:spMkLst>
            <pc:docMk/>
            <pc:sldMk cId="3043044192" sldId="256"/>
            <ac:spMk id="5" creationId="{BC3F26AB-2B15-43A3-A68C-3CAA11B62A02}"/>
          </ac:spMkLst>
        </pc:spChg>
      </pc:sldChg>
      <pc:sldChg chg="add">
        <pc:chgData name="Albert Prats Uribe" userId="524438a6-2adf-4725-abc0-3dede758fd98" providerId="ADAL" clId="{3EF31FFD-BA57-4500-A214-36C4F5FA2FE6}" dt="2026-06-19T16:20:49.152" v="1"/>
        <pc:sldMkLst>
          <pc:docMk/>
          <pc:sldMk cId="3413169561" sldId="258"/>
        </pc:sldMkLst>
      </pc:sldChg>
      <pc:sldChg chg="modSp mod">
        <pc:chgData name="Albert Prats Uribe" userId="524438a6-2adf-4725-abc0-3dede758fd98" providerId="ADAL" clId="{3EF31FFD-BA57-4500-A214-36C4F5FA2FE6}" dt="2026-06-19T16:21:01.139" v="5" actId="20577"/>
        <pc:sldMkLst>
          <pc:docMk/>
          <pc:sldMk cId="4029340736" sldId="937"/>
        </pc:sldMkLst>
        <pc:spChg chg="mod">
          <ac:chgData name="Albert Prats Uribe" userId="524438a6-2adf-4725-abc0-3dede758fd98" providerId="ADAL" clId="{3EF31FFD-BA57-4500-A214-36C4F5FA2FE6}" dt="2026-06-19T16:21:01.139" v="5" actId="20577"/>
          <ac:spMkLst>
            <pc:docMk/>
            <pc:sldMk cId="4029340736" sldId="937"/>
            <ac:spMk id="6" creationId="{FC952B27-78B0-EA17-1134-DEC4A96631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13B83-EF2F-4E44-9553-6915159000F6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E86C8-2229-476F-8542-BA2C87059635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73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813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53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30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7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208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338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970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6069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49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F37B-575F-4571-942A-18FC73DDF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7703D-01CF-49F4-B2E5-10106A1D3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8A7FA-5FE0-4741-97F6-4063E45A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64610-F3CF-426E-933E-FC2C4DE2C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1AF31-D2B7-420D-9697-75F0491B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3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7BAB-B57C-441D-9CAE-71DA8CC3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E486-030A-4817-AB1B-DB32ECF1E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6990C-CD34-4906-915A-731FE49A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A3BF-F729-481C-BDC1-21826FE2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0EE4A-72EA-4640-8FFC-7E98647D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5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F66E-D954-40F8-BE7C-BDF86E22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86DD7-1655-4D67-91F5-6F63E25F7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5950D-1A0E-4F77-9AF0-59A95120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9825-BEE9-4897-8240-A13C7509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A3D59-BF76-437D-A470-CC0D5E87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12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C1A7-A326-42C2-8C9C-D5EED399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33394-7C77-429A-8C5F-C5825D165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43B40-DF80-4788-98FC-BB7DD90F8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B031C-D466-401F-B034-D68CC131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4860D-36E3-4660-A9AF-DBF89497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C9C42-9C73-4F53-B3F4-271EA3E9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2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571B-FB0A-4E68-B2E3-5DD4035A6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653BA-69DB-4038-8CC0-817FC8740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0250C-6E2C-4DAF-B8DE-CF3A1B5D2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B3403-C7B9-413B-A680-1087DBAA3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C5B2E-F364-4024-8730-A0F6B9A95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F9A2A4-9571-4FE9-8847-A4A03686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8A260-10E0-411C-B230-9D5B35BB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1382E-E26B-4581-A37E-F546E89B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512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22527-85AB-4163-8B63-86486F0C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5EB747-1525-41A8-B8CA-3ED9D377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5B177-FF99-40EB-81B0-C5777BF1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DC663-A61B-48AB-A1CE-13CE5AB0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80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136DB-1537-4A24-B38D-A9C79DAB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5F4AE-BC45-4E73-8843-9CC0D8CA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31560-3D45-4B58-A521-73CA0F17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84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F238-B6D2-42EA-9CBE-277C990A4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D90D-8439-4D5E-BFDB-1EC45A26C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ECE46-7AC4-4061-B5F6-F339ED5B5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D6A3-C87A-4F1B-A15C-F5F9334B5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B1EFB-470F-4DCB-8026-04C3A0D3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D87A2-5B19-4D0C-BF79-ED58A1A5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811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53CA3-785D-4DBF-BB0E-437E5AD1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55ECD-6E32-4A5C-802A-9535AC91A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36856-41DA-419A-ABE5-FADEED441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72852-8AE1-498E-B285-AAD0A191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5B233-3F86-4B16-BA58-E3B9B2E4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4A458-CEAD-4242-B579-E96C7AF5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05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6BF67-08A3-4A0C-98DF-7C974BB35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3CD55-9B95-49AB-B50C-0DA7EB03E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D8855-2180-4C44-A600-CFBED5A6E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36EB-7FFB-4DCD-9F02-C4CE3CE5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F7C60-AD56-4E96-B0B2-BA42BCDF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3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CFBA06-819F-4518-A2E6-33E5D5D0A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E117D-AD28-49FE-A914-DE7F92495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E8B3C-EC0C-47A3-8DBC-7A00059D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B66B6-5443-4FDC-9F60-81315CAB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1EB6F-D754-45CA-8EF7-55A344F1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20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BAADF8-BCEC-41A7-85FE-E17B74A05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F635F-23FA-413E-BA96-6D6CEF7C9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FD78A-6950-479F-AA7C-0CCC905F5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85442-38F0-45AE-9E65-48DE7A2E519C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F9A35-8FF0-42A2-A8FC-5DEB33831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BCC59-0E4E-48CB-97F1-842534B93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210D3-905D-4030-A2D7-E16ADAFF408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28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pa-pde-oxford.shinyapps.io/OSS_Dynamed_shiny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pa-pde-oxford.shinyapps.io/OSS_Dynamed_shin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C3F26AB-2B15-43A3-A68C-3CAA11B62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7955" y="4683416"/>
            <a:ext cx="9144000" cy="1655762"/>
          </a:xfrm>
        </p:spPr>
        <p:txBody>
          <a:bodyPr/>
          <a:lstStyle/>
          <a:p>
            <a:endParaRPr lang="en-GB" dirty="0"/>
          </a:p>
          <a:p>
            <a:r>
              <a:rPr lang="en-GB" dirty="0"/>
              <a:t>Epidemiology Track Day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EB4E3E-7D63-43B9-960C-16289676C5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447" y="502326"/>
            <a:ext cx="3025931" cy="349585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58D3B1-BC84-4A80-8FC6-84A18B031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5941" y="2606385"/>
            <a:ext cx="9560118" cy="2166214"/>
          </a:xfrm>
        </p:spPr>
        <p:txBody>
          <a:bodyPr>
            <a:normAutofit/>
          </a:bodyPr>
          <a:lstStyle/>
          <a:p>
            <a:r>
              <a:rPr lang="en-GB" sz="5400" b="1" dirty="0"/>
              <a:t>Clinical Definitions </a:t>
            </a:r>
            <a:br>
              <a:rPr lang="en-GB" sz="5400" b="1" dirty="0"/>
            </a:br>
            <a:endParaRPr lang="en-GB" sz="5400" b="1" dirty="0"/>
          </a:p>
        </p:txBody>
      </p:sp>
    </p:spTree>
    <p:extLst>
      <p:ext uri="{BB962C8B-B14F-4D97-AF65-F5344CB8AC3E}">
        <p14:creationId xmlns:p14="http://schemas.microsoft.com/office/powerpoint/2010/main" val="3043044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sz="4400" b="1" dirty="0"/>
              <a:t>Phenotyping process</a:t>
            </a:r>
            <a:endParaRPr lang="en-GB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93B21E-9C01-E2C4-D85F-F199A0EB5E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562" y="324128"/>
            <a:ext cx="619210" cy="61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68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A01A6AE8-DAEC-A1E7-8B80-5D4C4D347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199" y="427015"/>
            <a:ext cx="7823201" cy="57865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BAFE73-C206-506E-81C8-252A25470B76}"/>
              </a:ext>
            </a:extLst>
          </p:cNvPr>
          <p:cNvSpPr txBox="1"/>
          <p:nvPr/>
        </p:nvSpPr>
        <p:spPr>
          <a:xfrm>
            <a:off x="3413977" y="359462"/>
            <a:ext cx="1851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0C0"/>
                </a:solidFill>
                <a:latin typeface="FoundrySterling-Bold" panose="020007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1. PROPOSAL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E62CAA-7A68-8935-1628-EBCFDACED97B}"/>
              </a:ext>
            </a:extLst>
          </p:cNvPr>
          <p:cNvSpPr txBox="1"/>
          <p:nvPr/>
        </p:nvSpPr>
        <p:spPr>
          <a:xfrm>
            <a:off x="2550803" y="1833556"/>
            <a:ext cx="1851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2. COHORT EXISTS?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885709-0E2C-A3DF-7165-39B63FF075AA}"/>
              </a:ext>
            </a:extLst>
          </p:cNvPr>
          <p:cNvSpPr txBox="1"/>
          <p:nvPr/>
        </p:nvSpPr>
        <p:spPr>
          <a:xfrm>
            <a:off x="2273358" y="5837180"/>
            <a:ext cx="1851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3. CODELIST GENERATION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5BC71C-5304-89B9-B717-040DBBF593C4}"/>
              </a:ext>
            </a:extLst>
          </p:cNvPr>
          <p:cNvSpPr txBox="1"/>
          <p:nvPr/>
        </p:nvSpPr>
        <p:spPr>
          <a:xfrm>
            <a:off x="5259753" y="5871005"/>
            <a:ext cx="1851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oundrySterling-Bold" panose="02000700000000000000" pitchFamily="2" charset="0"/>
                <a:ea typeface="+mn-ea"/>
                <a:cs typeface="+mn-cs"/>
              </a:rPr>
              <a:t>4. COHORT GENERATION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ángulo 3">
            <a:extLst>
              <a:ext uri="{FF2B5EF4-FFF2-40B4-BE49-F238E27FC236}">
                <a16:creationId xmlns:a16="http://schemas.microsoft.com/office/drawing/2014/main" id="{C84EB755-F85E-2D52-3657-141377D35BC7}"/>
              </a:ext>
            </a:extLst>
          </p:cNvPr>
          <p:cNvSpPr/>
          <p:nvPr/>
        </p:nvSpPr>
        <p:spPr>
          <a:xfrm>
            <a:off x="6477793" y="4181210"/>
            <a:ext cx="688294" cy="242166"/>
          </a:xfrm>
          <a:custGeom>
            <a:avLst/>
            <a:gdLst>
              <a:gd name="connsiteX0" fmla="*/ 0 w 687806"/>
              <a:gd name="connsiteY0" fmla="*/ 0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0 w 687806"/>
              <a:gd name="connsiteY4" fmla="*/ 0 h 270711"/>
              <a:gd name="connsiteX0" fmla="*/ 16669 w 687806"/>
              <a:gd name="connsiteY0" fmla="*/ 23812 h 270711"/>
              <a:gd name="connsiteX1" fmla="*/ 687806 w 687806"/>
              <a:gd name="connsiteY1" fmla="*/ 0 h 270711"/>
              <a:gd name="connsiteX2" fmla="*/ 687806 w 687806"/>
              <a:gd name="connsiteY2" fmla="*/ 270711 h 270711"/>
              <a:gd name="connsiteX3" fmla="*/ 0 w 687806"/>
              <a:gd name="connsiteY3" fmla="*/ 270711 h 270711"/>
              <a:gd name="connsiteX4" fmla="*/ 16669 w 687806"/>
              <a:gd name="connsiteY4" fmla="*/ 23812 h 270711"/>
              <a:gd name="connsiteX0" fmla="*/ 16669 w 687806"/>
              <a:gd name="connsiteY0" fmla="*/ 0 h 246899"/>
              <a:gd name="connsiteX1" fmla="*/ 611606 w 687806"/>
              <a:gd name="connsiteY1" fmla="*/ 9526 h 246899"/>
              <a:gd name="connsiteX2" fmla="*/ 687806 w 687806"/>
              <a:gd name="connsiteY2" fmla="*/ 246899 h 246899"/>
              <a:gd name="connsiteX3" fmla="*/ 0 w 687806"/>
              <a:gd name="connsiteY3" fmla="*/ 246899 h 246899"/>
              <a:gd name="connsiteX4" fmla="*/ 16669 w 687806"/>
              <a:gd name="connsiteY4" fmla="*/ 0 h 246899"/>
              <a:gd name="connsiteX0" fmla="*/ 16669 w 611606"/>
              <a:gd name="connsiteY0" fmla="*/ 0 h 249280"/>
              <a:gd name="connsiteX1" fmla="*/ 611606 w 611606"/>
              <a:gd name="connsiteY1" fmla="*/ 9526 h 249280"/>
              <a:gd name="connsiteX2" fmla="*/ 523500 w 611606"/>
              <a:gd name="connsiteY2" fmla="*/ 249280 h 249280"/>
              <a:gd name="connsiteX3" fmla="*/ 0 w 611606"/>
              <a:gd name="connsiteY3" fmla="*/ 246899 h 249280"/>
              <a:gd name="connsiteX4" fmla="*/ 16669 w 611606"/>
              <a:gd name="connsiteY4" fmla="*/ 0 h 249280"/>
              <a:gd name="connsiteX0" fmla="*/ 0 w 594937"/>
              <a:gd name="connsiteY0" fmla="*/ 0 h 249280"/>
              <a:gd name="connsiteX1" fmla="*/ 594937 w 594937"/>
              <a:gd name="connsiteY1" fmla="*/ 9526 h 249280"/>
              <a:gd name="connsiteX2" fmla="*/ 506831 w 594937"/>
              <a:gd name="connsiteY2" fmla="*/ 249280 h 249280"/>
              <a:gd name="connsiteX3" fmla="*/ 69056 w 594937"/>
              <a:gd name="connsiteY3" fmla="*/ 239755 h 249280"/>
              <a:gd name="connsiteX4" fmla="*/ 0 w 594937"/>
              <a:gd name="connsiteY4" fmla="*/ 0 h 249280"/>
              <a:gd name="connsiteX0" fmla="*/ 0 w 566362"/>
              <a:gd name="connsiteY0" fmla="*/ 0 h 282617"/>
              <a:gd name="connsiteX1" fmla="*/ 566362 w 566362"/>
              <a:gd name="connsiteY1" fmla="*/ 42863 h 282617"/>
              <a:gd name="connsiteX2" fmla="*/ 478256 w 566362"/>
              <a:gd name="connsiteY2" fmla="*/ 282617 h 282617"/>
              <a:gd name="connsiteX3" fmla="*/ 40481 w 566362"/>
              <a:gd name="connsiteY3" fmla="*/ 273092 h 282617"/>
              <a:gd name="connsiteX4" fmla="*/ 0 w 566362"/>
              <a:gd name="connsiteY4" fmla="*/ 0 h 282617"/>
              <a:gd name="connsiteX0" fmla="*/ 0 w 525881"/>
              <a:gd name="connsiteY0" fmla="*/ 0 h 282617"/>
              <a:gd name="connsiteX1" fmla="*/ 525881 w 525881"/>
              <a:gd name="connsiteY1" fmla="*/ 7144 h 282617"/>
              <a:gd name="connsiteX2" fmla="*/ 478256 w 525881"/>
              <a:gd name="connsiteY2" fmla="*/ 282617 h 282617"/>
              <a:gd name="connsiteX3" fmla="*/ 40481 w 525881"/>
              <a:gd name="connsiteY3" fmla="*/ 273092 h 282617"/>
              <a:gd name="connsiteX4" fmla="*/ 0 w 525881"/>
              <a:gd name="connsiteY4" fmla="*/ 0 h 282617"/>
              <a:gd name="connsiteX0" fmla="*/ 0 w 593094"/>
              <a:gd name="connsiteY0" fmla="*/ 0 h 282617"/>
              <a:gd name="connsiteX1" fmla="*/ 525881 w 593094"/>
              <a:gd name="connsiteY1" fmla="*/ 7144 h 282617"/>
              <a:gd name="connsiteX2" fmla="*/ 592556 w 593094"/>
              <a:gd name="connsiteY2" fmla="*/ 152400 h 282617"/>
              <a:gd name="connsiteX3" fmla="*/ 478256 w 593094"/>
              <a:gd name="connsiteY3" fmla="*/ 282617 h 282617"/>
              <a:gd name="connsiteX4" fmla="*/ 40481 w 593094"/>
              <a:gd name="connsiteY4" fmla="*/ 273092 h 282617"/>
              <a:gd name="connsiteX5" fmla="*/ 0 w 593094"/>
              <a:gd name="connsiteY5" fmla="*/ 0 h 282617"/>
              <a:gd name="connsiteX0" fmla="*/ 109914 w 703008"/>
              <a:gd name="connsiteY0" fmla="*/ 0 h 282617"/>
              <a:gd name="connsiteX1" fmla="*/ 635795 w 703008"/>
              <a:gd name="connsiteY1" fmla="*/ 7144 h 282617"/>
              <a:gd name="connsiteX2" fmla="*/ 702470 w 703008"/>
              <a:gd name="connsiteY2" fmla="*/ 152400 h 282617"/>
              <a:gd name="connsiteX3" fmla="*/ 588170 w 703008"/>
              <a:gd name="connsiteY3" fmla="*/ 282617 h 282617"/>
              <a:gd name="connsiteX4" fmla="*/ 150395 w 703008"/>
              <a:gd name="connsiteY4" fmla="*/ 273092 h 282617"/>
              <a:gd name="connsiteX5" fmla="*/ 0 w 703008"/>
              <a:gd name="connsiteY5" fmla="*/ 135731 h 282617"/>
              <a:gd name="connsiteX6" fmla="*/ 109914 w 703008"/>
              <a:gd name="connsiteY6" fmla="*/ 0 h 282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3008" h="282617">
                <a:moveTo>
                  <a:pt x="109914" y="0"/>
                </a:moveTo>
                <a:lnTo>
                  <a:pt x="635795" y="7144"/>
                </a:lnTo>
                <a:cubicBezTo>
                  <a:pt x="627857" y="55563"/>
                  <a:pt x="710408" y="103981"/>
                  <a:pt x="702470" y="152400"/>
                </a:cubicBezTo>
                <a:lnTo>
                  <a:pt x="588170" y="282617"/>
                </a:lnTo>
                <a:lnTo>
                  <a:pt x="150395" y="273092"/>
                </a:lnTo>
                <a:cubicBezTo>
                  <a:pt x="142332" y="229686"/>
                  <a:pt x="8063" y="179137"/>
                  <a:pt x="0" y="135731"/>
                </a:cubicBezTo>
                <a:lnTo>
                  <a:pt x="10991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misclassification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0504C1-E6FD-B69C-E5D4-B3AD2C289A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60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18D-C23F-0E2F-9C2B-C2DF4A18C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FoundrySterling-Bold" panose="02000700000000000000" pitchFamily="2" charset="0"/>
              </a:rPr>
              <a:t>1.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D05F-00EC-0F13-A18D-324EEF645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>
                <a:latin typeface="FoundrySterling-BookOSF" panose="02000503000000020004" pitchFamily="2" charset="0"/>
              </a:rPr>
              <a:t>Phenotype proposal form </a:t>
            </a:r>
          </a:p>
          <a:p>
            <a:pPr marL="0" indent="0">
              <a:buNone/>
            </a:pPr>
            <a:r>
              <a:rPr lang="en-GB" b="1">
                <a:latin typeface="FoundrySterling-BookOSF" panose="02000503000000020004" pitchFamily="2" charset="0"/>
              </a:rPr>
              <a:t>	</a:t>
            </a:r>
            <a:r>
              <a:rPr lang="en-GB">
                <a:latin typeface="FoundrySterling-BookOSF" panose="02000503000000020004" pitchFamily="2" charset="0"/>
              </a:rPr>
              <a:t>– Who asks? What is it for?</a:t>
            </a:r>
          </a:p>
          <a:p>
            <a:pPr marL="0" indent="0">
              <a:buNone/>
            </a:pPr>
            <a:endParaRPr lang="en-GB">
              <a:latin typeface="FoundrySterling-BookOSF" panose="02000503000000020004" pitchFamily="2" charset="0"/>
            </a:endParaRPr>
          </a:p>
          <a:p>
            <a:pPr marL="0" indent="0">
              <a:buNone/>
            </a:pPr>
            <a:r>
              <a:rPr lang="en-GB" u="sng">
                <a:latin typeface="FoundrySterling-BookOSF" panose="02000503000000020004" pitchFamily="2" charset="0"/>
              </a:rPr>
              <a:t>Evaluate</a:t>
            </a:r>
            <a:r>
              <a:rPr lang="en-GB">
                <a:latin typeface="FoundrySterling-BookOSF" panose="02000503000000020004" pitchFamily="2" charset="0"/>
              </a:rPr>
              <a:t>:</a:t>
            </a: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	- </a:t>
            </a:r>
            <a:r>
              <a:rPr lang="en-GB" b="1">
                <a:latin typeface="FoundrySterling-BookOSF" panose="02000503000000020004" pitchFamily="2" charset="0"/>
              </a:rPr>
              <a:t>Feasibility</a:t>
            </a:r>
            <a:r>
              <a:rPr lang="en-GB">
                <a:latin typeface="FoundrySterling-BookOSF" panose="02000503000000020004" pitchFamily="2" charset="0"/>
              </a:rPr>
              <a:t> – If non-feasible – STOP + reason</a:t>
            </a: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			- Different than study feasibility (but related)</a:t>
            </a:r>
          </a:p>
          <a:p>
            <a:pPr marL="0" indent="0">
              <a:buNone/>
            </a:pPr>
            <a:r>
              <a:rPr lang="en-GB">
                <a:latin typeface="FoundrySterling-BookOSF" panose="02000503000000020004" pitchFamily="2" charset="0"/>
              </a:rPr>
              <a:t>	- </a:t>
            </a:r>
            <a:r>
              <a:rPr lang="en-GB" b="1">
                <a:latin typeface="FoundrySterling-BookOSF" panose="02000503000000020004" pitchFamily="2" charset="0"/>
              </a:rPr>
              <a:t>Need for clinical description </a:t>
            </a:r>
          </a:p>
          <a:p>
            <a:pPr marL="0" indent="0">
              <a:buNone/>
            </a:pPr>
            <a:r>
              <a:rPr lang="en-GB" b="1">
                <a:latin typeface="FoundrySterling-BookOSF" panose="02000503000000020004" pitchFamily="2" charset="0"/>
              </a:rPr>
              <a:t>			</a:t>
            </a:r>
            <a:r>
              <a:rPr lang="en-GB">
                <a:latin typeface="FoundrySterling-BookOSF" panose="02000503000000020004" pitchFamily="2" charset="0"/>
              </a:rPr>
              <a:t>- If yes, </a:t>
            </a:r>
            <a:r>
              <a:rPr lang="en-GB" b="1">
                <a:latin typeface="FoundrySterling-BookOSF" panose="02000503000000020004" pitchFamily="2" charset="0"/>
              </a:rPr>
              <a:t>clinical description form</a:t>
            </a:r>
          </a:p>
        </p:txBody>
      </p:sp>
      <p:pic>
        <p:nvPicPr>
          <p:cNvPr id="4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DACC20BD-ABEA-85A1-382C-FC542DBBE1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508" b="73301"/>
          <a:stretch/>
        </p:blipFill>
        <p:spPr>
          <a:xfrm>
            <a:off x="6675782" y="285061"/>
            <a:ext cx="4953001" cy="1540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2140FC-8D3B-E645-5CDF-B6541D08B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9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769C5B-9BE4-C6C1-D807-497387A6F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29" y="365125"/>
            <a:ext cx="11025554" cy="1325563"/>
          </a:xfrm>
        </p:spPr>
        <p:txBody>
          <a:bodyPr/>
          <a:lstStyle/>
          <a:p>
            <a:r>
              <a:rPr lang="en-GB">
                <a:latin typeface="FoundrySterling-Bold" panose="02000700000000000000" pitchFamily="2" charset="0"/>
              </a:rPr>
              <a:t>Clinical 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90181-7456-4F54-DF23-1854D9CD25A8}"/>
              </a:ext>
            </a:extLst>
          </p:cNvPr>
          <p:cNvSpPr txBox="1"/>
          <p:nvPr/>
        </p:nvSpPr>
        <p:spPr>
          <a:xfrm>
            <a:off x="1664677" y="1601208"/>
            <a:ext cx="6096000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Overview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Presentation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Assessment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(Staging)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Management/RX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Prognosis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Disqualifiers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Suggested Logic Description: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sz="2000" b="1">
                <a:solidFill>
                  <a:prstClr val="black"/>
                </a:solidFill>
                <a:latin typeface="Calibri" panose="020F0502020204030204"/>
              </a:rPr>
              <a:t>Proposed Flavours</a:t>
            </a:r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170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sz="4400" b="1"/>
              <a:t>Clinical Description with Dynamed</a:t>
            </a:r>
            <a:endParaRPr lang="en-GB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F250DAE-837E-DC9D-4CFF-E6E66EA4133F}"/>
              </a:ext>
            </a:extLst>
          </p:cNvPr>
          <p:cNvSpPr txBox="1"/>
          <p:nvPr/>
        </p:nvSpPr>
        <p:spPr>
          <a:xfrm>
            <a:off x="567855" y="2552412"/>
            <a:ext cx="105242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>
                <a:hlinkClick r:id="rId4"/>
              </a:rPr>
              <a:t>https://dpa-pde-oxford.shinyapps.io/OSS_Dynamed_shiny/</a:t>
            </a:r>
            <a:endParaRPr lang="en-GB" sz="3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D4F72E-07CE-DE1E-56C9-4B21B0E7D04F}"/>
              </a:ext>
            </a:extLst>
          </p:cNvPr>
          <p:cNvSpPr txBox="1"/>
          <p:nvPr/>
        </p:nvSpPr>
        <p:spPr>
          <a:xfrm>
            <a:off x="956733" y="152120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b="1"/>
              <a:t>try to connect!</a:t>
            </a:r>
            <a:endParaRPr lang="en-US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097D5-5ED0-9910-D31B-F742A21714C4}"/>
              </a:ext>
            </a:extLst>
          </p:cNvPr>
          <p:cNvSpPr txBox="1"/>
          <p:nvPr/>
        </p:nvSpPr>
        <p:spPr>
          <a:xfrm>
            <a:off x="948267" y="416388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/>
              <a:t>User: </a:t>
            </a:r>
            <a:r>
              <a:rPr lang="en-US" sz="4000" dirty="0">
                <a:solidFill>
                  <a:schemeClr val="accent2"/>
                </a:solidFill>
              </a:rPr>
              <a:t>hdruk2026 </a:t>
            </a:r>
            <a:endParaRPr lang="en-GB" sz="4000" dirty="0">
              <a:solidFill>
                <a:schemeClr val="accent2"/>
              </a:solidFill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CCC264B4-8032-0F03-1934-3A2E857C4539}"/>
              </a:ext>
            </a:extLst>
          </p:cNvPr>
          <p:cNvSpPr txBox="1"/>
          <p:nvPr/>
        </p:nvSpPr>
        <p:spPr>
          <a:xfrm>
            <a:off x="948267" y="4599597"/>
            <a:ext cx="73575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/>
              <a:t>Password: </a:t>
            </a:r>
            <a:r>
              <a:rPr lang="en-US" sz="4000" dirty="0" err="1">
                <a:solidFill>
                  <a:schemeClr val="accent2"/>
                </a:solidFill>
              </a:rPr>
              <a:t>nottingham</a:t>
            </a:r>
            <a:r>
              <a:rPr lang="en-US" sz="4000" dirty="0">
                <a:solidFill>
                  <a:schemeClr val="accent2"/>
                </a:solidFill>
              </a:rPr>
              <a:t> </a:t>
            </a:r>
            <a:endParaRPr lang="en-GB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035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sz="4400" b="1"/>
              <a:t>Clinical Description with Dynamed</a:t>
            </a:r>
            <a:endParaRPr lang="en-GB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37F0E3C-0FF9-2D6D-853F-58180CC47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" y="1986333"/>
            <a:ext cx="9271000" cy="49789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10CB61-384B-0E10-2071-1C2AE59B7B18}"/>
              </a:ext>
            </a:extLst>
          </p:cNvPr>
          <p:cNvSpPr txBox="1"/>
          <p:nvPr/>
        </p:nvSpPr>
        <p:spPr>
          <a:xfrm>
            <a:off x="990600" y="16597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accent2"/>
                </a:solidFill>
              </a:rPr>
              <a:t>1 – Log In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912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sz="4400" b="1"/>
              <a:t>Clinical Description with Dynamed</a:t>
            </a:r>
            <a:endParaRPr lang="en-GB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10CB61-384B-0E10-2071-1C2AE59B7B18}"/>
              </a:ext>
            </a:extLst>
          </p:cNvPr>
          <p:cNvSpPr txBox="1"/>
          <p:nvPr/>
        </p:nvSpPr>
        <p:spPr>
          <a:xfrm>
            <a:off x="337038" y="11115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accent2"/>
                </a:solidFill>
              </a:rPr>
              <a:t>2 – Search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5269E4-2E0F-5B93-8456-D5B1F889C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33" y="1704910"/>
            <a:ext cx="16072682" cy="50583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62B8D2-9DE4-19A8-AE19-0A1EDAF61202}"/>
              </a:ext>
            </a:extLst>
          </p:cNvPr>
          <p:cNvSpPr txBox="1"/>
          <p:nvPr/>
        </p:nvSpPr>
        <p:spPr>
          <a:xfrm>
            <a:off x="2624667" y="2717801"/>
            <a:ext cx="3342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1B8DAC"/>
                </a:solidFill>
              </a:rPr>
              <a:t>1- Search word goes here</a:t>
            </a:r>
            <a:endParaRPr lang="en-GB" sz="2400">
              <a:solidFill>
                <a:srgbClr val="1B8DA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856B9-767A-3C9B-7D5E-92D7FB296998}"/>
              </a:ext>
            </a:extLst>
          </p:cNvPr>
          <p:cNvSpPr txBox="1"/>
          <p:nvPr/>
        </p:nvSpPr>
        <p:spPr>
          <a:xfrm>
            <a:off x="2684782" y="3311155"/>
            <a:ext cx="1719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1B8DAC"/>
                </a:solidFill>
              </a:rPr>
              <a:t>2- Click here</a:t>
            </a:r>
            <a:endParaRPr lang="en-GB" sz="2400">
              <a:solidFill>
                <a:srgbClr val="1B8DAC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D75AD-F1CA-8BA9-D407-D0C83026F94A}"/>
              </a:ext>
            </a:extLst>
          </p:cNvPr>
          <p:cNvSpPr txBox="1"/>
          <p:nvPr/>
        </p:nvSpPr>
        <p:spPr>
          <a:xfrm>
            <a:off x="8950116" y="3128666"/>
            <a:ext cx="2985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1B8DAC"/>
                </a:solidFill>
              </a:rPr>
              <a:t>3- Results appear here</a:t>
            </a:r>
            <a:endParaRPr lang="en-GB" sz="2400">
              <a:solidFill>
                <a:srgbClr val="1B8DAC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49DC83-3F33-4818-2E96-A226AC6550F9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1557867" y="2948633"/>
            <a:ext cx="1066800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42AD0C-33BA-2EF9-D1EF-E0B6993EFD3E}"/>
              </a:ext>
            </a:extLst>
          </p:cNvPr>
          <p:cNvCxnSpPr/>
          <p:nvPr/>
        </p:nvCxnSpPr>
        <p:spPr>
          <a:xfrm flipH="1" flipV="1">
            <a:off x="1617982" y="3541986"/>
            <a:ext cx="1066800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335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B474BD-34F1-CC7D-72A5-1D9811173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1278"/>
            <a:ext cx="12192000" cy="42154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sz="4400" b="1"/>
              <a:t>Clinical Description with Dynamed</a:t>
            </a:r>
            <a:endParaRPr lang="en-GB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10CB61-384B-0E10-2071-1C2AE59B7B18}"/>
              </a:ext>
            </a:extLst>
          </p:cNvPr>
          <p:cNvSpPr txBox="1"/>
          <p:nvPr/>
        </p:nvSpPr>
        <p:spPr>
          <a:xfrm>
            <a:off x="337038" y="11115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accent2"/>
                </a:solidFill>
              </a:rPr>
              <a:t>2 – Search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62B8D2-9DE4-19A8-AE19-0A1EDAF61202}"/>
              </a:ext>
            </a:extLst>
          </p:cNvPr>
          <p:cNvSpPr txBox="1"/>
          <p:nvPr/>
        </p:nvSpPr>
        <p:spPr>
          <a:xfrm>
            <a:off x="2887134" y="2454530"/>
            <a:ext cx="1916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rgbClr val="1B8DAC"/>
                </a:solidFill>
              </a:rPr>
              <a:t>(Selected result gets </a:t>
            </a:r>
          </a:p>
          <a:p>
            <a:r>
              <a:rPr lang="en-US" sz="1600">
                <a:solidFill>
                  <a:srgbClr val="1B8DAC"/>
                </a:solidFill>
              </a:rPr>
              <a:t>printed here too)</a:t>
            </a:r>
            <a:endParaRPr lang="en-GB" sz="1600">
              <a:solidFill>
                <a:srgbClr val="1B8DA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856B9-767A-3C9B-7D5E-92D7FB296998}"/>
              </a:ext>
            </a:extLst>
          </p:cNvPr>
          <p:cNvSpPr txBox="1"/>
          <p:nvPr/>
        </p:nvSpPr>
        <p:spPr>
          <a:xfrm>
            <a:off x="1693333" y="4057868"/>
            <a:ext cx="1719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1B8DAC"/>
                </a:solidFill>
              </a:rPr>
              <a:t>2- Click here</a:t>
            </a:r>
            <a:endParaRPr lang="en-GB" sz="2400">
              <a:solidFill>
                <a:srgbClr val="1B8DAC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D75AD-F1CA-8BA9-D407-D0C83026F94A}"/>
              </a:ext>
            </a:extLst>
          </p:cNvPr>
          <p:cNvSpPr txBox="1"/>
          <p:nvPr/>
        </p:nvSpPr>
        <p:spPr>
          <a:xfrm>
            <a:off x="6697176" y="5575054"/>
            <a:ext cx="39284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>
                <a:solidFill>
                  <a:srgbClr val="1B8DAC"/>
                </a:solidFill>
              </a:rPr>
              <a:t>1 – Click on one of the results </a:t>
            </a:r>
          </a:p>
          <a:p>
            <a:pPr algn="ctr"/>
            <a:r>
              <a:rPr lang="en-US" sz="2400">
                <a:solidFill>
                  <a:srgbClr val="1B8DAC"/>
                </a:solidFill>
              </a:rPr>
              <a:t>(it gets highlighted)</a:t>
            </a:r>
            <a:endParaRPr lang="en-GB" sz="2400">
              <a:solidFill>
                <a:srgbClr val="1B8DAC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49DC83-3F33-4818-2E96-A226AC6550F9}"/>
              </a:ext>
            </a:extLst>
          </p:cNvPr>
          <p:cNvCxnSpPr>
            <a:cxnSpLocks/>
          </p:cNvCxnSpPr>
          <p:nvPr/>
        </p:nvCxnSpPr>
        <p:spPr>
          <a:xfrm flipH="1" flipV="1">
            <a:off x="8102600" y="3835400"/>
            <a:ext cx="558800" cy="17396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42AD0C-33BA-2EF9-D1EF-E0B6993EFD3E}"/>
              </a:ext>
            </a:extLst>
          </p:cNvPr>
          <p:cNvCxnSpPr>
            <a:cxnSpLocks/>
          </p:cNvCxnSpPr>
          <p:nvPr/>
        </p:nvCxnSpPr>
        <p:spPr>
          <a:xfrm flipH="1" flipV="1">
            <a:off x="652782" y="3311155"/>
            <a:ext cx="1040551" cy="9560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A46130-44C3-85C5-03EF-79D355324B05}"/>
              </a:ext>
            </a:extLst>
          </p:cNvPr>
          <p:cNvSpPr txBox="1"/>
          <p:nvPr/>
        </p:nvSpPr>
        <p:spPr>
          <a:xfrm>
            <a:off x="7485383" y="1232723"/>
            <a:ext cx="3761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1B8DAC"/>
                </a:solidFill>
              </a:rPr>
              <a:t>3- New tabs will appear here</a:t>
            </a:r>
            <a:endParaRPr lang="en-GB" sz="2400">
              <a:solidFill>
                <a:srgbClr val="1B8D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328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BDC6E5-53A9-3A07-E868-EAAD4FE13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8857"/>
            <a:ext cx="12192000" cy="3760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sz="4400" b="1"/>
              <a:t>Clinical Description with Dynamed</a:t>
            </a:r>
            <a:endParaRPr lang="en-GB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10CB61-384B-0E10-2071-1C2AE59B7B18}"/>
              </a:ext>
            </a:extLst>
          </p:cNvPr>
          <p:cNvSpPr txBox="1"/>
          <p:nvPr/>
        </p:nvSpPr>
        <p:spPr>
          <a:xfrm>
            <a:off x="337038" y="11115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accent2"/>
                </a:solidFill>
              </a:rPr>
              <a:t>Consult</a:t>
            </a:r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D75AD-F1CA-8BA9-D407-D0C83026F94A}"/>
              </a:ext>
            </a:extLst>
          </p:cNvPr>
          <p:cNvSpPr txBox="1"/>
          <p:nvPr/>
        </p:nvSpPr>
        <p:spPr>
          <a:xfrm>
            <a:off x="9312429" y="3822454"/>
            <a:ext cx="28795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>
                <a:solidFill>
                  <a:srgbClr val="1B8DAC"/>
                </a:solidFill>
              </a:rPr>
              <a:t>Relevant information </a:t>
            </a:r>
          </a:p>
          <a:p>
            <a:pPr algn="ctr"/>
            <a:r>
              <a:rPr lang="en-US" sz="2400">
                <a:solidFill>
                  <a:srgbClr val="1B8DAC"/>
                </a:solidFill>
              </a:rPr>
              <a:t>to copy paste </a:t>
            </a:r>
          </a:p>
          <a:p>
            <a:pPr algn="ctr"/>
            <a:r>
              <a:rPr lang="en-US" sz="2400">
                <a:solidFill>
                  <a:srgbClr val="1B8DAC"/>
                </a:solidFill>
              </a:rPr>
              <a:t>appears here</a:t>
            </a:r>
            <a:endParaRPr lang="en-GB" sz="2400">
              <a:solidFill>
                <a:srgbClr val="1B8DAC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A46130-44C3-85C5-03EF-79D355324B05}"/>
              </a:ext>
            </a:extLst>
          </p:cNvPr>
          <p:cNvSpPr txBox="1"/>
          <p:nvPr/>
        </p:nvSpPr>
        <p:spPr>
          <a:xfrm>
            <a:off x="5588850" y="1421358"/>
            <a:ext cx="3154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1B8DAC"/>
                </a:solidFill>
              </a:rPr>
              <a:t>1- Click the selected tab</a:t>
            </a:r>
            <a:endParaRPr lang="en-GB" sz="2400">
              <a:solidFill>
                <a:srgbClr val="1B8D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366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b="1"/>
              <a:t>Breakout Session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C952B27-78B0-EA17-1134-DEC4A9663197}"/>
              </a:ext>
            </a:extLst>
          </p:cNvPr>
          <p:cNvSpPr txBox="1"/>
          <p:nvPr/>
        </p:nvSpPr>
        <p:spPr>
          <a:xfrm>
            <a:off x="0" y="1529246"/>
            <a:ext cx="1219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/>
              <a:t>Complete a clinical description </a:t>
            </a:r>
          </a:p>
          <a:p>
            <a:pPr algn="ctr">
              <a:lnSpc>
                <a:spcPct val="100000"/>
              </a:lnSpc>
            </a:pPr>
            <a:r>
              <a:rPr lang="en-US" sz="4000"/>
              <a:t>of the selected phenotypes </a:t>
            </a:r>
          </a:p>
          <a:p>
            <a:pPr algn="ctr">
              <a:lnSpc>
                <a:spcPct val="100000"/>
              </a:lnSpc>
            </a:pPr>
            <a:r>
              <a:rPr lang="en-US" sz="4000"/>
              <a:t>for an incidence/prevalence study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C80035-0AE7-A54D-D5B5-F20E89D67540}"/>
              </a:ext>
            </a:extLst>
          </p:cNvPr>
          <p:cNvSpPr txBox="1"/>
          <p:nvPr/>
        </p:nvSpPr>
        <p:spPr>
          <a:xfrm>
            <a:off x="695003" y="4051481"/>
            <a:ext cx="103970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>
                <a:solidFill>
                  <a:schemeClr val="accent2"/>
                </a:solidFill>
              </a:rPr>
              <a:t>Most Important:</a:t>
            </a:r>
          </a:p>
          <a:p>
            <a:pPr>
              <a:lnSpc>
                <a:spcPct val="100000"/>
              </a:lnSpc>
            </a:pPr>
            <a:r>
              <a:rPr lang="en-US" sz="4000">
                <a:solidFill>
                  <a:schemeClr val="accent2"/>
                </a:solidFill>
              </a:rPr>
              <a:t>Think about </a:t>
            </a:r>
            <a:r>
              <a:rPr lang="en-US" sz="4000" err="1">
                <a:solidFill>
                  <a:schemeClr val="accent2"/>
                </a:solidFill>
              </a:rPr>
              <a:t>flavours</a:t>
            </a:r>
            <a:r>
              <a:rPr lang="en-US" sz="4000">
                <a:solidFill>
                  <a:schemeClr val="accent2"/>
                </a:solidFill>
              </a:rPr>
              <a:t>,</a:t>
            </a:r>
          </a:p>
          <a:p>
            <a:pPr>
              <a:lnSpc>
                <a:spcPct val="100000"/>
              </a:lnSpc>
            </a:pPr>
            <a:r>
              <a:rPr lang="en-US" sz="4000">
                <a:solidFill>
                  <a:schemeClr val="accent2"/>
                </a:solidFill>
              </a:rPr>
              <a:t>possible logics,</a:t>
            </a:r>
          </a:p>
          <a:p>
            <a:pPr>
              <a:lnSpc>
                <a:spcPct val="100000"/>
              </a:lnSpc>
            </a:pPr>
            <a:r>
              <a:rPr lang="en-US" sz="4000">
                <a:solidFill>
                  <a:schemeClr val="accent2"/>
                </a:solidFill>
              </a:rPr>
              <a:t>What code lists/concept sets would you need?</a:t>
            </a:r>
            <a:endParaRPr lang="en-GB" sz="40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585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D64-0507-4D53-A947-23957318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55" y="418067"/>
            <a:ext cx="10515600" cy="604934"/>
          </a:xfrm>
        </p:spPr>
        <p:txBody>
          <a:bodyPr>
            <a:normAutofit fontScale="90000"/>
          </a:bodyPr>
          <a:lstStyle/>
          <a:p>
            <a:r>
              <a:rPr lang="en-GB" b="1"/>
              <a:t>Breakout Session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5363D-16A5-4127-828F-A6FA99EF0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070" y="230188"/>
            <a:ext cx="762892" cy="8813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538A-FC18-47F1-9F49-D0D84A7744E4}"/>
              </a:ext>
            </a:extLst>
          </p:cNvPr>
          <p:cNvCxnSpPr>
            <a:cxnSpLocks/>
          </p:cNvCxnSpPr>
          <p:nvPr/>
        </p:nvCxnSpPr>
        <p:spPr>
          <a:xfrm>
            <a:off x="567855" y="1037277"/>
            <a:ext cx="10524215" cy="0"/>
          </a:xfrm>
          <a:prstGeom prst="line">
            <a:avLst/>
          </a:prstGeom>
          <a:ln>
            <a:solidFill>
              <a:srgbClr val="1A55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DFEEA42-E5CA-890A-884D-736DDF3E2062}"/>
              </a:ext>
            </a:extLst>
          </p:cNvPr>
          <p:cNvSpPr txBox="1"/>
          <p:nvPr/>
        </p:nvSpPr>
        <p:spPr>
          <a:xfrm>
            <a:off x="1075266" y="1582663"/>
            <a:ext cx="7662334" cy="1199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800" dirty="0"/>
              <a:t>15.30 – 16.00 	Breakout session: Clinical descriptions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800"/>
              <a:t>16.00 – 1</a:t>
            </a:r>
            <a:r>
              <a:rPr lang="en-GB"/>
              <a:t>6</a:t>
            </a:r>
            <a:r>
              <a:rPr lang="en-GB" sz="1800"/>
              <a:t>.30 </a:t>
            </a:r>
            <a:r>
              <a:rPr lang="en-GB" sz="1800" dirty="0"/>
              <a:t>	Clinical descriptions and flavours chosen presented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4886F5-4BF5-DE17-4EF8-58A3F6E39EAF}"/>
              </a:ext>
            </a:extLst>
          </p:cNvPr>
          <p:cNvSpPr txBox="1"/>
          <p:nvPr/>
        </p:nvSpPr>
        <p:spPr>
          <a:xfrm>
            <a:off x="677922" y="3497331"/>
            <a:ext cx="105242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>
                <a:hlinkClick r:id="rId4"/>
              </a:rPr>
              <a:t>https://dpa-pde-oxford.shinyapps.io/OSS_Dynamed_shiny/</a:t>
            </a:r>
            <a:endParaRPr lang="en-GB" sz="3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952B27-78B0-EA17-1134-DEC4A9663197}"/>
              </a:ext>
            </a:extLst>
          </p:cNvPr>
          <p:cNvSpPr txBox="1"/>
          <p:nvPr/>
        </p:nvSpPr>
        <p:spPr>
          <a:xfrm>
            <a:off x="948267" y="416388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/>
              <a:t>User: </a:t>
            </a:r>
            <a:r>
              <a:rPr lang="en-US" sz="4000" dirty="0">
                <a:solidFill>
                  <a:schemeClr val="accent2"/>
                </a:solidFill>
              </a:rPr>
              <a:t>hdruk2026 </a:t>
            </a:r>
            <a:endParaRPr lang="en-GB" sz="4000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C80035-0AE7-A54D-D5B5-F20E89D67540}"/>
              </a:ext>
            </a:extLst>
          </p:cNvPr>
          <p:cNvSpPr txBox="1"/>
          <p:nvPr/>
        </p:nvSpPr>
        <p:spPr>
          <a:xfrm>
            <a:off x="948267" y="4599597"/>
            <a:ext cx="73575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/>
              <a:t>Password: </a:t>
            </a:r>
            <a:r>
              <a:rPr lang="en-US" sz="4000" dirty="0" err="1">
                <a:solidFill>
                  <a:schemeClr val="accent2"/>
                </a:solidFill>
              </a:rPr>
              <a:t>nottingham</a:t>
            </a:r>
            <a:r>
              <a:rPr lang="en-US" sz="4000" dirty="0">
                <a:solidFill>
                  <a:schemeClr val="accent2"/>
                </a:solidFill>
              </a:rPr>
              <a:t> </a:t>
            </a:r>
            <a:endParaRPr lang="en-GB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340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299</Words>
  <Application>Microsoft Office PowerPoint</Application>
  <PresentationFormat>Panorámica</PresentationFormat>
  <Paragraphs>79</Paragraphs>
  <Slides>12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FoundrySterling-Bold</vt:lpstr>
      <vt:lpstr>FoundrySterling-BookOSF</vt:lpstr>
      <vt:lpstr>Office Theme</vt:lpstr>
      <vt:lpstr>Clinical Definitions  </vt:lpstr>
      <vt:lpstr>Phenotyping process</vt:lpstr>
      <vt:lpstr>Presentación de PowerPoint</vt:lpstr>
      <vt:lpstr>1. Proposal</vt:lpstr>
      <vt:lpstr>Clinical Description</vt:lpstr>
      <vt:lpstr>Clinical Description with Dynamed</vt:lpstr>
      <vt:lpstr>Clinical Description with Dynamed</vt:lpstr>
      <vt:lpstr>Clinical Description with Dynamed</vt:lpstr>
      <vt:lpstr>Clinical Description with Dynamed</vt:lpstr>
      <vt:lpstr>Clinical Description with Dynamed</vt:lpstr>
      <vt:lpstr>Breakout Session</vt:lpstr>
      <vt:lpstr>Breakout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landscaping and Feasibility</dc:title>
  <dc:creator>Annika Jodicke</dc:creator>
  <cp:lastModifiedBy>Albert Prats Uribe</cp:lastModifiedBy>
  <cp:revision>18</cp:revision>
  <dcterms:created xsi:type="dcterms:W3CDTF">2024-06-12T08:36:41Z</dcterms:created>
  <dcterms:modified xsi:type="dcterms:W3CDTF">2026-09-17T07:56:33Z</dcterms:modified>
</cp:coreProperties>
</file>