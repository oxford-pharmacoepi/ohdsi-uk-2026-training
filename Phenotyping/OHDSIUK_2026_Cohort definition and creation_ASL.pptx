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3"/>
  </p:notesMasterIdLst>
  <p:sldIdLst>
    <p:sldId id="2147470436" r:id="rId2"/>
    <p:sldId id="2147470437" r:id="rId3"/>
    <p:sldId id="2147470438" r:id="rId4"/>
    <p:sldId id="2147470410" r:id="rId5"/>
    <p:sldId id="582" r:id="rId6"/>
    <p:sldId id="2147374314" r:id="rId7"/>
    <p:sldId id="2147374315" r:id="rId8"/>
    <p:sldId id="2147374316" r:id="rId9"/>
    <p:sldId id="2147470413" r:id="rId10"/>
    <p:sldId id="2147470423" r:id="rId11"/>
    <p:sldId id="2147470425" r:id="rId12"/>
    <p:sldId id="2147470426" r:id="rId13"/>
    <p:sldId id="2147470422" r:id="rId14"/>
    <p:sldId id="2147470427" r:id="rId15"/>
    <p:sldId id="2147470428" r:id="rId16"/>
    <p:sldId id="2147470420" r:id="rId17"/>
    <p:sldId id="2147470419" r:id="rId18"/>
    <p:sldId id="2147470433" r:id="rId19"/>
    <p:sldId id="2147470421" r:id="rId20"/>
    <p:sldId id="2147470430" r:id="rId21"/>
    <p:sldId id="2147470431" r:id="rId22"/>
    <p:sldId id="2147470415" r:id="rId23"/>
    <p:sldId id="952" r:id="rId24"/>
    <p:sldId id="953" r:id="rId25"/>
    <p:sldId id="954" r:id="rId26"/>
    <p:sldId id="1389" r:id="rId27"/>
    <p:sldId id="949" r:id="rId28"/>
    <p:sldId id="972" r:id="rId29"/>
    <p:sldId id="262" r:id="rId30"/>
    <p:sldId id="987" r:id="rId31"/>
    <p:sldId id="214747043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1344BF-15DD-35C4-D3DB-9C2883C4A9A8}" name="Anna Ostropolets" initials="AO" userId="S::ostropolets@ohdsi.org::146c8c9c-8655-4651-9209-cfb245aa047d" providerId="AD"/>
  <p188:author id="{482CF6D8-F920-54B4-2765-95E65A9554C6}" name="Martí Català Sabaté (DARWIN EU® CC)" initials="MCS(EC" userId="S::m.catalasabate@darwin-eu.org::3e74dd76-af49-4eaf-831c-a6263f4d5d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47"/>
    <a:srgbClr val="1B8DAC"/>
    <a:srgbClr val="1A55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127" autoAdjust="0"/>
  </p:normalViewPr>
  <p:slideViewPr>
    <p:cSldViewPr snapToGrid="0">
      <p:cViewPr varScale="1">
        <p:scale>
          <a:sx n="47" d="100"/>
          <a:sy n="47" d="100"/>
        </p:scale>
        <p:origin x="13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Saura Lazaro" userId="cf3b5fea-f74d-49bc-8e05-a3978fbeb20d" providerId="ADAL" clId="{F21234F2-7902-4223-AD32-15D6AC04FB18}"/>
    <pc:docChg chg="addSld modSld sldOrd">
      <pc:chgData name="Anna Saura Lazaro" userId="cf3b5fea-f74d-49bc-8e05-a3978fbeb20d" providerId="ADAL" clId="{F21234F2-7902-4223-AD32-15D6AC04FB18}" dt="2026-09-14T09:30:27.877" v="44" actId="20577"/>
      <pc:docMkLst>
        <pc:docMk/>
      </pc:docMkLst>
      <pc:sldChg chg="addSp modSp add">
        <pc:chgData name="Anna Saura Lazaro" userId="cf3b5fea-f74d-49bc-8e05-a3978fbeb20d" providerId="ADAL" clId="{F21234F2-7902-4223-AD32-15D6AC04FB18}" dt="2026-09-12T12:30:45.550" v="28"/>
        <pc:sldMkLst>
          <pc:docMk/>
          <pc:sldMk cId="3116368438" sldId="262"/>
        </pc:sldMkLst>
        <pc:spChg chg="add mod">
          <ac:chgData name="Anna Saura Lazaro" userId="cf3b5fea-f74d-49bc-8e05-a3978fbeb20d" providerId="ADAL" clId="{F21234F2-7902-4223-AD32-15D6AC04FB18}" dt="2026-09-12T12:30:45.550" v="28"/>
          <ac:spMkLst>
            <pc:docMk/>
            <pc:sldMk cId="3116368438" sldId="262"/>
            <ac:spMk id="3" creationId="{3EB63D6A-08C6-9598-FBAF-806FFE7DC590}"/>
          </ac:spMkLst>
        </pc:spChg>
        <pc:spChg chg="add mod">
          <ac:chgData name="Anna Saura Lazaro" userId="cf3b5fea-f74d-49bc-8e05-a3978fbeb20d" providerId="ADAL" clId="{F21234F2-7902-4223-AD32-15D6AC04FB18}" dt="2026-09-12T12:30:45.550" v="28"/>
          <ac:spMkLst>
            <pc:docMk/>
            <pc:sldMk cId="3116368438" sldId="262"/>
            <ac:spMk id="5" creationId="{7D21D10E-7272-58AB-CD82-DD4F0673FCD8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29:25.823" v="30" actId="6549"/>
        <pc:sldMkLst>
          <pc:docMk/>
          <pc:sldMk cId="1538668727" sldId="582"/>
        </pc:sldMkLst>
        <pc:spChg chg="add mod">
          <ac:chgData name="Anna Saura Lazaro" userId="cf3b5fea-f74d-49bc-8e05-a3978fbeb20d" providerId="ADAL" clId="{F21234F2-7902-4223-AD32-15D6AC04FB18}" dt="2026-09-12T12:30:13.909" v="5"/>
          <ac:spMkLst>
            <pc:docMk/>
            <pc:sldMk cId="1538668727" sldId="582"/>
            <ac:spMk id="7" creationId="{818E89E0-0662-F7CD-8F68-BA2066DBC73F}"/>
          </ac:spMkLst>
        </pc:spChg>
        <pc:spChg chg="add mod">
          <ac:chgData name="Anna Saura Lazaro" userId="cf3b5fea-f74d-49bc-8e05-a3978fbeb20d" providerId="ADAL" clId="{F21234F2-7902-4223-AD32-15D6AC04FB18}" dt="2026-09-12T12:30:13.909" v="5"/>
          <ac:spMkLst>
            <pc:docMk/>
            <pc:sldMk cId="1538668727" sldId="582"/>
            <ac:spMk id="8" creationId="{50CB5EE7-1349-26F8-90FC-69CD1AE2C47E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44.185" v="26"/>
        <pc:sldMkLst>
          <pc:docMk/>
          <pc:sldMk cId="894585492" sldId="949"/>
        </pc:sldMkLst>
        <pc:spChg chg="add mod">
          <ac:chgData name="Anna Saura Lazaro" userId="cf3b5fea-f74d-49bc-8e05-a3978fbeb20d" providerId="ADAL" clId="{F21234F2-7902-4223-AD32-15D6AC04FB18}" dt="2026-09-12T12:30:44.185" v="26"/>
          <ac:spMkLst>
            <pc:docMk/>
            <pc:sldMk cId="894585492" sldId="949"/>
            <ac:spMk id="8" creationId="{0632231D-3BA0-3DB3-61BD-69289DB4958D}"/>
          </ac:spMkLst>
        </pc:spChg>
        <pc:spChg chg="add mod">
          <ac:chgData name="Anna Saura Lazaro" userId="cf3b5fea-f74d-49bc-8e05-a3978fbeb20d" providerId="ADAL" clId="{F21234F2-7902-4223-AD32-15D6AC04FB18}" dt="2026-09-12T12:30:44.185" v="26"/>
          <ac:spMkLst>
            <pc:docMk/>
            <pc:sldMk cId="894585492" sldId="949"/>
            <ac:spMk id="9" creationId="{1F230B6A-9810-BBB8-12BB-9B3E816BCF80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30:17.428" v="42" actId="6549"/>
        <pc:sldMkLst>
          <pc:docMk/>
          <pc:sldMk cId="2520861263" sldId="952"/>
        </pc:sldMkLst>
        <pc:spChg chg="add mod">
          <ac:chgData name="Anna Saura Lazaro" userId="cf3b5fea-f74d-49bc-8e05-a3978fbeb20d" providerId="ADAL" clId="{F21234F2-7902-4223-AD32-15D6AC04FB18}" dt="2026-09-12T12:30:35.421" v="23"/>
          <ac:spMkLst>
            <pc:docMk/>
            <pc:sldMk cId="2520861263" sldId="952"/>
            <ac:spMk id="5" creationId="{9AAF69E3-5119-C62D-FC65-F1A7894AEA78}"/>
          </ac:spMkLst>
        </pc:spChg>
        <pc:spChg chg="add mod">
          <ac:chgData name="Anna Saura Lazaro" userId="cf3b5fea-f74d-49bc-8e05-a3978fbeb20d" providerId="ADAL" clId="{F21234F2-7902-4223-AD32-15D6AC04FB18}" dt="2026-09-12T12:30:35.421" v="23"/>
          <ac:spMkLst>
            <pc:docMk/>
            <pc:sldMk cId="2520861263" sldId="952"/>
            <ac:spMk id="6" creationId="{3D14CBA3-D99F-7EE7-BDFB-53D62846363A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37.501" v="24"/>
        <pc:sldMkLst>
          <pc:docMk/>
          <pc:sldMk cId="2557938208" sldId="954"/>
        </pc:sldMkLst>
        <pc:spChg chg="add mod">
          <ac:chgData name="Anna Saura Lazaro" userId="cf3b5fea-f74d-49bc-8e05-a3978fbeb20d" providerId="ADAL" clId="{F21234F2-7902-4223-AD32-15D6AC04FB18}" dt="2026-09-12T12:30:37.501" v="24"/>
          <ac:spMkLst>
            <pc:docMk/>
            <pc:sldMk cId="2557938208" sldId="954"/>
            <ac:spMk id="6" creationId="{2A543B11-D844-1C05-2DBE-5200D28A99C0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30:27.877" v="44" actId="20577"/>
        <pc:sldMkLst>
          <pc:docMk/>
          <pc:sldMk cId="958793815" sldId="972"/>
        </pc:sldMkLst>
        <pc:spChg chg="add mod">
          <ac:chgData name="Anna Saura Lazaro" userId="cf3b5fea-f74d-49bc-8e05-a3978fbeb20d" providerId="ADAL" clId="{F21234F2-7902-4223-AD32-15D6AC04FB18}" dt="2026-09-12T12:30:44.745" v="27"/>
          <ac:spMkLst>
            <pc:docMk/>
            <pc:sldMk cId="958793815" sldId="972"/>
            <ac:spMk id="2" creationId="{1E6E1D8C-2E81-0030-2A51-1E6541292487}"/>
          </ac:spMkLst>
        </pc:spChg>
        <pc:spChg chg="add mod">
          <ac:chgData name="Anna Saura Lazaro" userId="cf3b5fea-f74d-49bc-8e05-a3978fbeb20d" providerId="ADAL" clId="{F21234F2-7902-4223-AD32-15D6AC04FB18}" dt="2026-09-12T12:30:44.745" v="27"/>
          <ac:spMkLst>
            <pc:docMk/>
            <pc:sldMk cId="958793815" sldId="972"/>
            <ac:spMk id="3" creationId="{1766808A-7BBB-62B4-3004-B0DCE6B1888D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41.915" v="25"/>
        <pc:sldMkLst>
          <pc:docMk/>
          <pc:sldMk cId="4283481016" sldId="1389"/>
        </pc:sldMkLst>
        <pc:spChg chg="add mod">
          <ac:chgData name="Anna Saura Lazaro" userId="cf3b5fea-f74d-49bc-8e05-a3978fbeb20d" providerId="ADAL" clId="{F21234F2-7902-4223-AD32-15D6AC04FB18}" dt="2026-09-12T12:30:41.915" v="25"/>
          <ac:spMkLst>
            <pc:docMk/>
            <pc:sldMk cId="4283481016" sldId="1389"/>
            <ac:spMk id="5" creationId="{1E022643-4CE8-2533-58CA-D553706C0D39}"/>
          </ac:spMkLst>
        </pc:spChg>
        <pc:spChg chg="add mod">
          <ac:chgData name="Anna Saura Lazaro" userId="cf3b5fea-f74d-49bc-8e05-a3978fbeb20d" providerId="ADAL" clId="{F21234F2-7902-4223-AD32-15D6AC04FB18}" dt="2026-09-12T12:30:41.915" v="25"/>
          <ac:spMkLst>
            <pc:docMk/>
            <pc:sldMk cId="4283481016" sldId="1389"/>
            <ac:spMk id="6" creationId="{229B9FE6-B519-376E-FC00-45434C32D467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29:28.821" v="31" actId="6549"/>
        <pc:sldMkLst>
          <pc:docMk/>
          <pc:sldMk cId="3481344638" sldId="2147374314"/>
        </pc:sldMkLst>
        <pc:spChg chg="add mod">
          <ac:chgData name="Anna Saura Lazaro" userId="cf3b5fea-f74d-49bc-8e05-a3978fbeb20d" providerId="ADAL" clId="{F21234F2-7902-4223-AD32-15D6AC04FB18}" dt="2026-09-12T12:30:14.869" v="6"/>
          <ac:spMkLst>
            <pc:docMk/>
            <pc:sldMk cId="3481344638" sldId="2147374314"/>
            <ac:spMk id="7" creationId="{DE403FBE-E67E-78B2-1D45-A43DC7AC946D}"/>
          </ac:spMkLst>
        </pc:spChg>
        <pc:spChg chg="add mod">
          <ac:chgData name="Anna Saura Lazaro" userId="cf3b5fea-f74d-49bc-8e05-a3978fbeb20d" providerId="ADAL" clId="{F21234F2-7902-4223-AD32-15D6AC04FB18}" dt="2026-09-12T12:30:14.869" v="6"/>
          <ac:spMkLst>
            <pc:docMk/>
            <pc:sldMk cId="3481344638" sldId="2147374314"/>
            <ac:spMk id="8" creationId="{43319F7E-5F27-435D-BD72-7CC1EC366084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29:31.454" v="32" actId="6549"/>
        <pc:sldMkLst>
          <pc:docMk/>
          <pc:sldMk cId="294597912" sldId="2147374315"/>
        </pc:sldMkLst>
        <pc:spChg chg="add mod">
          <ac:chgData name="Anna Saura Lazaro" userId="cf3b5fea-f74d-49bc-8e05-a3978fbeb20d" providerId="ADAL" clId="{F21234F2-7902-4223-AD32-15D6AC04FB18}" dt="2026-09-12T12:30:15.998" v="7"/>
          <ac:spMkLst>
            <pc:docMk/>
            <pc:sldMk cId="294597912" sldId="2147374315"/>
            <ac:spMk id="7" creationId="{F8808EE7-EC2A-18CE-5505-0721FAE6ECB5}"/>
          </ac:spMkLst>
        </pc:spChg>
        <pc:spChg chg="add mod">
          <ac:chgData name="Anna Saura Lazaro" userId="cf3b5fea-f74d-49bc-8e05-a3978fbeb20d" providerId="ADAL" clId="{F21234F2-7902-4223-AD32-15D6AC04FB18}" dt="2026-09-12T12:30:15.998" v="7"/>
          <ac:spMkLst>
            <pc:docMk/>
            <pc:sldMk cId="294597912" sldId="2147374315"/>
            <ac:spMk id="8" creationId="{FF538F31-756C-7CAD-5164-494E6E0D5115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29:35.505" v="33" actId="6549"/>
        <pc:sldMkLst>
          <pc:docMk/>
          <pc:sldMk cId="3587317363" sldId="2147374316"/>
        </pc:sldMkLst>
        <pc:spChg chg="add mod">
          <ac:chgData name="Anna Saura Lazaro" userId="cf3b5fea-f74d-49bc-8e05-a3978fbeb20d" providerId="ADAL" clId="{F21234F2-7902-4223-AD32-15D6AC04FB18}" dt="2026-09-12T12:30:16.917" v="8"/>
          <ac:spMkLst>
            <pc:docMk/>
            <pc:sldMk cId="3587317363" sldId="2147374316"/>
            <ac:spMk id="7" creationId="{E938D750-4BBB-62A3-B1EC-10079013B5EE}"/>
          </ac:spMkLst>
        </pc:spChg>
        <pc:spChg chg="add mod">
          <ac:chgData name="Anna Saura Lazaro" userId="cf3b5fea-f74d-49bc-8e05-a3978fbeb20d" providerId="ADAL" clId="{F21234F2-7902-4223-AD32-15D6AC04FB18}" dt="2026-09-12T12:30:16.917" v="8"/>
          <ac:spMkLst>
            <pc:docMk/>
            <pc:sldMk cId="3587317363" sldId="2147374316"/>
            <ac:spMk id="8" creationId="{1A521908-E169-D27C-A813-53DA8B6FD06A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12.777" v="4"/>
        <pc:sldMkLst>
          <pc:docMk/>
          <pc:sldMk cId="2023547157" sldId="2147470410"/>
        </pc:sldMkLst>
        <pc:spChg chg="add mod">
          <ac:chgData name="Anna Saura Lazaro" userId="cf3b5fea-f74d-49bc-8e05-a3978fbeb20d" providerId="ADAL" clId="{F21234F2-7902-4223-AD32-15D6AC04FB18}" dt="2026-09-12T12:30:12.777" v="4"/>
          <ac:spMkLst>
            <pc:docMk/>
            <pc:sldMk cId="2023547157" sldId="2147470410"/>
            <ac:spMk id="8" creationId="{D60B7AB9-15B3-342E-639E-7EA27105B2C8}"/>
          </ac:spMkLst>
        </pc:spChg>
        <pc:spChg chg="add mod">
          <ac:chgData name="Anna Saura Lazaro" userId="cf3b5fea-f74d-49bc-8e05-a3978fbeb20d" providerId="ADAL" clId="{F21234F2-7902-4223-AD32-15D6AC04FB18}" dt="2026-09-12T12:30:12.777" v="4"/>
          <ac:spMkLst>
            <pc:docMk/>
            <pc:sldMk cId="2023547157" sldId="2147470410"/>
            <ac:spMk id="9" creationId="{9EA91357-6396-B6D2-818F-2391193B8BCD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29:38.397" v="34" actId="6549"/>
        <pc:sldMkLst>
          <pc:docMk/>
          <pc:sldMk cId="1653104795" sldId="2147470413"/>
        </pc:sldMkLst>
        <pc:spChg chg="add mod">
          <ac:chgData name="Anna Saura Lazaro" userId="cf3b5fea-f74d-49bc-8e05-a3978fbeb20d" providerId="ADAL" clId="{F21234F2-7902-4223-AD32-15D6AC04FB18}" dt="2026-09-12T12:30:18.054" v="9"/>
          <ac:spMkLst>
            <pc:docMk/>
            <pc:sldMk cId="1653104795" sldId="2147470413"/>
            <ac:spMk id="6" creationId="{D7598F39-177D-F5A8-5E01-9FD2C388A958}"/>
          </ac:spMkLst>
        </pc:spChg>
        <pc:spChg chg="add mod">
          <ac:chgData name="Anna Saura Lazaro" userId="cf3b5fea-f74d-49bc-8e05-a3978fbeb20d" providerId="ADAL" clId="{F21234F2-7902-4223-AD32-15D6AC04FB18}" dt="2026-09-12T12:30:18.054" v="9"/>
          <ac:spMkLst>
            <pc:docMk/>
            <pc:sldMk cId="1653104795" sldId="2147470413"/>
            <ac:spMk id="7" creationId="{7075E3F3-60E8-E8C9-FE4D-1FBCEF1825D6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30:13.705" v="41" actId="6549"/>
        <pc:sldMkLst>
          <pc:docMk/>
          <pc:sldMk cId="251170422" sldId="2147470415"/>
        </pc:sldMkLst>
        <pc:spChg chg="add mod">
          <ac:chgData name="Anna Saura Lazaro" userId="cf3b5fea-f74d-49bc-8e05-a3978fbeb20d" providerId="ADAL" clId="{F21234F2-7902-4223-AD32-15D6AC04FB18}" dt="2026-09-12T12:30:34.181" v="22"/>
          <ac:spMkLst>
            <pc:docMk/>
            <pc:sldMk cId="251170422" sldId="2147470415"/>
            <ac:spMk id="5" creationId="{CEF52650-8E9A-6480-2A00-E818873AD580}"/>
          </ac:spMkLst>
        </pc:spChg>
        <pc:spChg chg="add mod">
          <ac:chgData name="Anna Saura Lazaro" userId="cf3b5fea-f74d-49bc-8e05-a3978fbeb20d" providerId="ADAL" clId="{F21234F2-7902-4223-AD32-15D6AC04FB18}" dt="2026-09-12T12:30:34.181" v="22"/>
          <ac:spMkLst>
            <pc:docMk/>
            <pc:sldMk cId="251170422" sldId="2147470415"/>
            <ac:spMk id="6" creationId="{F5BFC678-B9F7-26C7-211F-522275542071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29:55.103" v="37" actId="6549"/>
        <pc:sldMkLst>
          <pc:docMk/>
          <pc:sldMk cId="3165585479" sldId="2147470419"/>
        </pc:sldMkLst>
        <pc:spChg chg="add mod">
          <ac:chgData name="Anna Saura Lazaro" userId="cf3b5fea-f74d-49bc-8e05-a3978fbeb20d" providerId="ADAL" clId="{F21234F2-7902-4223-AD32-15D6AC04FB18}" dt="2026-09-12T12:30:28.038" v="17"/>
          <ac:spMkLst>
            <pc:docMk/>
            <pc:sldMk cId="3165585479" sldId="2147470419"/>
            <ac:spMk id="4" creationId="{47CD2EE6-F049-C341-B18F-3E9A6AFDD210}"/>
          </ac:spMkLst>
        </pc:spChg>
        <pc:spChg chg="add mod">
          <ac:chgData name="Anna Saura Lazaro" userId="cf3b5fea-f74d-49bc-8e05-a3978fbeb20d" providerId="ADAL" clId="{F21234F2-7902-4223-AD32-15D6AC04FB18}" dt="2026-09-12T12:30:28.038" v="17"/>
          <ac:spMkLst>
            <pc:docMk/>
            <pc:sldMk cId="3165585479" sldId="2147470419"/>
            <ac:spMk id="6" creationId="{29592761-DB4B-C7D6-474A-A01FF0AE9C79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29:52.051" v="36" actId="6549"/>
        <pc:sldMkLst>
          <pc:docMk/>
          <pc:sldMk cId="3195755906" sldId="2147470420"/>
        </pc:sldMkLst>
        <pc:spChg chg="add mod">
          <ac:chgData name="Anna Saura Lazaro" userId="cf3b5fea-f74d-49bc-8e05-a3978fbeb20d" providerId="ADAL" clId="{F21234F2-7902-4223-AD32-15D6AC04FB18}" dt="2026-09-12T12:30:26.837" v="16"/>
          <ac:spMkLst>
            <pc:docMk/>
            <pc:sldMk cId="3195755906" sldId="2147470420"/>
            <ac:spMk id="3" creationId="{B96D1F21-EF77-4ABF-90B0-81AFDAA39A62}"/>
          </ac:spMkLst>
        </pc:spChg>
        <pc:spChg chg="add mod">
          <ac:chgData name="Anna Saura Lazaro" userId="cf3b5fea-f74d-49bc-8e05-a3978fbeb20d" providerId="ADAL" clId="{F21234F2-7902-4223-AD32-15D6AC04FB18}" dt="2026-09-12T12:30:26.837" v="16"/>
          <ac:spMkLst>
            <pc:docMk/>
            <pc:sldMk cId="3195755906" sldId="2147470420"/>
            <ac:spMk id="7" creationId="{EC7ABFFE-0E2E-E54A-4F51-A1AD59D2AF62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30:03.107" v="39" actId="6549"/>
        <pc:sldMkLst>
          <pc:docMk/>
          <pc:sldMk cId="4130454700" sldId="2147470421"/>
        </pc:sldMkLst>
        <pc:spChg chg="add mod">
          <ac:chgData name="Anna Saura Lazaro" userId="cf3b5fea-f74d-49bc-8e05-a3978fbeb20d" providerId="ADAL" clId="{F21234F2-7902-4223-AD32-15D6AC04FB18}" dt="2026-09-12T12:30:30.781" v="19"/>
          <ac:spMkLst>
            <pc:docMk/>
            <pc:sldMk cId="4130454700" sldId="2147470421"/>
            <ac:spMk id="4" creationId="{2AE41117-1FA1-89DF-36DD-E0E6945F4ACC}"/>
          </ac:spMkLst>
        </pc:spChg>
        <pc:spChg chg="add mod">
          <ac:chgData name="Anna Saura Lazaro" userId="cf3b5fea-f74d-49bc-8e05-a3978fbeb20d" providerId="ADAL" clId="{F21234F2-7902-4223-AD32-15D6AC04FB18}" dt="2026-09-12T12:30:30.781" v="19"/>
          <ac:spMkLst>
            <pc:docMk/>
            <pc:sldMk cId="4130454700" sldId="2147470421"/>
            <ac:spMk id="5" creationId="{88354D20-AD15-C68D-12A1-997A17C06D52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29:45.806" v="35" actId="6549"/>
        <pc:sldMkLst>
          <pc:docMk/>
          <pc:sldMk cId="2472237198" sldId="2147470422"/>
        </pc:sldMkLst>
        <pc:spChg chg="add mod">
          <ac:chgData name="Anna Saura Lazaro" userId="cf3b5fea-f74d-49bc-8e05-a3978fbeb20d" providerId="ADAL" clId="{F21234F2-7902-4223-AD32-15D6AC04FB18}" dt="2026-09-12T12:30:22.789" v="13"/>
          <ac:spMkLst>
            <pc:docMk/>
            <pc:sldMk cId="2472237198" sldId="2147470422"/>
            <ac:spMk id="4" creationId="{97A23025-3343-10A2-0241-0AF6928A2707}"/>
          </ac:spMkLst>
        </pc:spChg>
        <pc:spChg chg="add mod">
          <ac:chgData name="Anna Saura Lazaro" userId="cf3b5fea-f74d-49bc-8e05-a3978fbeb20d" providerId="ADAL" clId="{F21234F2-7902-4223-AD32-15D6AC04FB18}" dt="2026-09-12T12:30:22.789" v="13"/>
          <ac:spMkLst>
            <pc:docMk/>
            <pc:sldMk cId="2472237198" sldId="2147470422"/>
            <ac:spMk id="5" creationId="{04D6CF66-7177-E1C9-8355-6DBA64181507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19.227" v="10"/>
        <pc:sldMkLst>
          <pc:docMk/>
          <pc:sldMk cId="2026086919" sldId="2147470423"/>
        </pc:sldMkLst>
        <pc:spChg chg="add mod">
          <ac:chgData name="Anna Saura Lazaro" userId="cf3b5fea-f74d-49bc-8e05-a3978fbeb20d" providerId="ADAL" clId="{F21234F2-7902-4223-AD32-15D6AC04FB18}" dt="2026-09-12T12:30:19.227" v="10"/>
          <ac:spMkLst>
            <pc:docMk/>
            <pc:sldMk cId="2026086919" sldId="2147470423"/>
            <ac:spMk id="3" creationId="{03449690-FD86-FC7D-5B9B-85274208F121}"/>
          </ac:spMkLst>
        </pc:spChg>
        <pc:spChg chg="add mod">
          <ac:chgData name="Anna Saura Lazaro" userId="cf3b5fea-f74d-49bc-8e05-a3978fbeb20d" providerId="ADAL" clId="{F21234F2-7902-4223-AD32-15D6AC04FB18}" dt="2026-09-12T12:30:19.227" v="10"/>
          <ac:spMkLst>
            <pc:docMk/>
            <pc:sldMk cId="2026086919" sldId="2147470423"/>
            <ac:spMk id="4" creationId="{D979ADF5-3DBE-97FC-54E6-DB2302CAF17A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20.179" v="11"/>
        <pc:sldMkLst>
          <pc:docMk/>
          <pc:sldMk cId="4268768574" sldId="2147470425"/>
        </pc:sldMkLst>
        <pc:spChg chg="add mod">
          <ac:chgData name="Anna Saura Lazaro" userId="cf3b5fea-f74d-49bc-8e05-a3978fbeb20d" providerId="ADAL" clId="{F21234F2-7902-4223-AD32-15D6AC04FB18}" dt="2026-09-12T12:30:20.179" v="11"/>
          <ac:spMkLst>
            <pc:docMk/>
            <pc:sldMk cId="4268768574" sldId="2147470425"/>
            <ac:spMk id="4" creationId="{B48E0D9D-AC24-F848-3437-CB694F1BB50E}"/>
          </ac:spMkLst>
        </pc:spChg>
        <pc:spChg chg="add mod">
          <ac:chgData name="Anna Saura Lazaro" userId="cf3b5fea-f74d-49bc-8e05-a3978fbeb20d" providerId="ADAL" clId="{F21234F2-7902-4223-AD32-15D6AC04FB18}" dt="2026-09-12T12:30:20.179" v="11"/>
          <ac:spMkLst>
            <pc:docMk/>
            <pc:sldMk cId="4268768574" sldId="2147470425"/>
            <ac:spMk id="5" creationId="{71489A15-878C-1E7A-5100-6CBFC283C200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21.612" v="12"/>
        <pc:sldMkLst>
          <pc:docMk/>
          <pc:sldMk cId="3106538077" sldId="2147470426"/>
        </pc:sldMkLst>
        <pc:spChg chg="add mod">
          <ac:chgData name="Anna Saura Lazaro" userId="cf3b5fea-f74d-49bc-8e05-a3978fbeb20d" providerId="ADAL" clId="{F21234F2-7902-4223-AD32-15D6AC04FB18}" dt="2026-09-12T12:30:21.612" v="12"/>
          <ac:spMkLst>
            <pc:docMk/>
            <pc:sldMk cId="3106538077" sldId="2147470426"/>
            <ac:spMk id="4" creationId="{758AB46C-0489-59B4-066C-BA8AA28678D5}"/>
          </ac:spMkLst>
        </pc:spChg>
        <pc:spChg chg="add mod">
          <ac:chgData name="Anna Saura Lazaro" userId="cf3b5fea-f74d-49bc-8e05-a3978fbeb20d" providerId="ADAL" clId="{F21234F2-7902-4223-AD32-15D6AC04FB18}" dt="2026-09-12T12:30:21.612" v="12"/>
          <ac:spMkLst>
            <pc:docMk/>
            <pc:sldMk cId="3106538077" sldId="2147470426"/>
            <ac:spMk id="5" creationId="{EA4D69BF-4864-3D51-5F22-695FC2393317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24.260" v="14"/>
        <pc:sldMkLst>
          <pc:docMk/>
          <pc:sldMk cId="160759376" sldId="2147470427"/>
        </pc:sldMkLst>
        <pc:spChg chg="add mod">
          <ac:chgData name="Anna Saura Lazaro" userId="cf3b5fea-f74d-49bc-8e05-a3978fbeb20d" providerId="ADAL" clId="{F21234F2-7902-4223-AD32-15D6AC04FB18}" dt="2026-09-12T12:30:24.260" v="14"/>
          <ac:spMkLst>
            <pc:docMk/>
            <pc:sldMk cId="160759376" sldId="2147470427"/>
            <ac:spMk id="3" creationId="{801F977F-333E-F7BF-DAAF-EE157B715BDC}"/>
          </ac:spMkLst>
        </pc:spChg>
        <pc:spChg chg="add mod">
          <ac:chgData name="Anna Saura Lazaro" userId="cf3b5fea-f74d-49bc-8e05-a3978fbeb20d" providerId="ADAL" clId="{F21234F2-7902-4223-AD32-15D6AC04FB18}" dt="2026-09-12T12:30:24.260" v="14"/>
          <ac:spMkLst>
            <pc:docMk/>
            <pc:sldMk cId="160759376" sldId="2147470427"/>
            <ac:spMk id="7" creationId="{3DE5A089-E31E-6491-3EFD-EC2FF239B278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25.519" v="15"/>
        <pc:sldMkLst>
          <pc:docMk/>
          <pc:sldMk cId="2996135666" sldId="2147470428"/>
        </pc:sldMkLst>
        <pc:spChg chg="add mod">
          <ac:chgData name="Anna Saura Lazaro" userId="cf3b5fea-f74d-49bc-8e05-a3978fbeb20d" providerId="ADAL" clId="{F21234F2-7902-4223-AD32-15D6AC04FB18}" dt="2026-09-12T12:30:25.519" v="15"/>
          <ac:spMkLst>
            <pc:docMk/>
            <pc:sldMk cId="2996135666" sldId="2147470428"/>
            <ac:spMk id="3" creationId="{87536ABA-0E92-CB28-CA24-9DD352BFEDB6}"/>
          </ac:spMkLst>
        </pc:spChg>
        <pc:spChg chg="add mod">
          <ac:chgData name="Anna Saura Lazaro" userId="cf3b5fea-f74d-49bc-8e05-a3978fbeb20d" providerId="ADAL" clId="{F21234F2-7902-4223-AD32-15D6AC04FB18}" dt="2026-09-12T12:30:25.519" v="15"/>
          <ac:spMkLst>
            <pc:docMk/>
            <pc:sldMk cId="2996135666" sldId="2147470428"/>
            <ac:spMk id="7" creationId="{73955100-3D84-5A5A-4831-A947890CF03D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30:07.605" v="40" actId="6549"/>
        <pc:sldMkLst>
          <pc:docMk/>
          <pc:sldMk cId="671541989" sldId="2147470430"/>
        </pc:sldMkLst>
        <pc:spChg chg="add mod">
          <ac:chgData name="Anna Saura Lazaro" userId="cf3b5fea-f74d-49bc-8e05-a3978fbeb20d" providerId="ADAL" clId="{F21234F2-7902-4223-AD32-15D6AC04FB18}" dt="2026-09-12T12:30:31.876" v="20"/>
          <ac:spMkLst>
            <pc:docMk/>
            <pc:sldMk cId="671541989" sldId="2147470430"/>
            <ac:spMk id="4" creationId="{1568671D-1509-DC5F-31B4-6052E4242965}"/>
          </ac:spMkLst>
        </pc:spChg>
        <pc:spChg chg="add mod">
          <ac:chgData name="Anna Saura Lazaro" userId="cf3b5fea-f74d-49bc-8e05-a3978fbeb20d" providerId="ADAL" clId="{F21234F2-7902-4223-AD32-15D6AC04FB18}" dt="2026-09-12T12:30:31.876" v="20"/>
          <ac:spMkLst>
            <pc:docMk/>
            <pc:sldMk cId="671541989" sldId="2147470430"/>
            <ac:spMk id="7" creationId="{7EF382C9-1C09-7107-112C-8FD3932D18DB}"/>
          </ac:spMkLst>
        </pc:spChg>
      </pc:sldChg>
      <pc:sldChg chg="addSp modSp">
        <pc:chgData name="Anna Saura Lazaro" userId="cf3b5fea-f74d-49bc-8e05-a3978fbeb20d" providerId="ADAL" clId="{F21234F2-7902-4223-AD32-15D6AC04FB18}" dt="2026-09-12T12:30:33.050" v="21"/>
        <pc:sldMkLst>
          <pc:docMk/>
          <pc:sldMk cId="3699458037" sldId="2147470431"/>
        </pc:sldMkLst>
        <pc:spChg chg="add mod">
          <ac:chgData name="Anna Saura Lazaro" userId="cf3b5fea-f74d-49bc-8e05-a3978fbeb20d" providerId="ADAL" clId="{F21234F2-7902-4223-AD32-15D6AC04FB18}" dt="2026-09-12T12:30:33.050" v="21"/>
          <ac:spMkLst>
            <pc:docMk/>
            <pc:sldMk cId="3699458037" sldId="2147470431"/>
            <ac:spMk id="7" creationId="{17E304F9-17C6-7700-BF64-669677EDF1AF}"/>
          </ac:spMkLst>
        </pc:spChg>
        <pc:spChg chg="add mod">
          <ac:chgData name="Anna Saura Lazaro" userId="cf3b5fea-f74d-49bc-8e05-a3978fbeb20d" providerId="ADAL" clId="{F21234F2-7902-4223-AD32-15D6AC04FB18}" dt="2026-09-12T12:30:33.050" v="21"/>
          <ac:spMkLst>
            <pc:docMk/>
            <pc:sldMk cId="3699458037" sldId="2147470431"/>
            <ac:spMk id="8" creationId="{ECA6404A-A19E-E64A-F33D-F8006A2E42DD}"/>
          </ac:spMkLst>
        </pc:spChg>
      </pc:sldChg>
      <pc:sldChg chg="addSp modSp modNotesTx">
        <pc:chgData name="Anna Saura Lazaro" userId="cf3b5fea-f74d-49bc-8e05-a3978fbeb20d" providerId="ADAL" clId="{F21234F2-7902-4223-AD32-15D6AC04FB18}" dt="2026-09-14T09:29:59.993" v="38" actId="6549"/>
        <pc:sldMkLst>
          <pc:docMk/>
          <pc:sldMk cId="4107205744" sldId="2147470433"/>
        </pc:sldMkLst>
        <pc:spChg chg="add mod">
          <ac:chgData name="Anna Saura Lazaro" userId="cf3b5fea-f74d-49bc-8e05-a3978fbeb20d" providerId="ADAL" clId="{F21234F2-7902-4223-AD32-15D6AC04FB18}" dt="2026-09-12T12:30:29.671" v="18"/>
          <ac:spMkLst>
            <pc:docMk/>
            <pc:sldMk cId="4107205744" sldId="2147470433"/>
            <ac:spMk id="4" creationId="{34E5D914-5417-2452-AF75-516B8F427C16}"/>
          </ac:spMkLst>
        </pc:spChg>
        <pc:spChg chg="add mod">
          <ac:chgData name="Anna Saura Lazaro" userId="cf3b5fea-f74d-49bc-8e05-a3978fbeb20d" providerId="ADAL" clId="{F21234F2-7902-4223-AD32-15D6AC04FB18}" dt="2026-09-12T12:30:29.671" v="18"/>
          <ac:spMkLst>
            <pc:docMk/>
            <pc:sldMk cId="4107205744" sldId="2147470433"/>
            <ac:spMk id="6" creationId="{55BE7E00-BB93-96C8-17E2-FD5E99211527}"/>
          </ac:spMkLst>
        </pc:spChg>
      </pc:sldChg>
      <pc:sldChg chg="addSp modSp add ord">
        <pc:chgData name="Anna Saura Lazaro" userId="cf3b5fea-f74d-49bc-8e05-a3978fbeb20d" providerId="ADAL" clId="{F21234F2-7902-4223-AD32-15D6AC04FB18}" dt="2026-09-12T12:30:07.870" v="3"/>
        <pc:sldMkLst>
          <pc:docMk/>
          <pc:sldMk cId="1645308023" sldId="2147470437"/>
        </pc:sldMkLst>
        <pc:spChg chg="add mod">
          <ac:chgData name="Anna Saura Lazaro" userId="cf3b5fea-f74d-49bc-8e05-a3978fbeb20d" providerId="ADAL" clId="{F21234F2-7902-4223-AD32-15D6AC04FB18}" dt="2026-09-12T12:30:07.870" v="3"/>
          <ac:spMkLst>
            <pc:docMk/>
            <pc:sldMk cId="1645308023" sldId="2147470437"/>
            <ac:spMk id="4" creationId="{FBA7113D-45E7-08F9-0972-95936D6450D3}"/>
          </ac:spMkLst>
        </pc:spChg>
        <pc:spChg chg="add mod">
          <ac:chgData name="Anna Saura Lazaro" userId="cf3b5fea-f74d-49bc-8e05-a3978fbeb20d" providerId="ADAL" clId="{F21234F2-7902-4223-AD32-15D6AC04FB18}" dt="2026-09-12T12:30:07.870" v="3"/>
          <ac:spMkLst>
            <pc:docMk/>
            <pc:sldMk cId="1645308023" sldId="2147470437"/>
            <ac:spMk id="6" creationId="{24908264-8779-97E3-9C98-D974B6A868B4}"/>
          </ac:spMkLst>
        </pc:spChg>
      </pc:sldChg>
      <pc:sldChg chg="add">
        <pc:chgData name="Anna Saura Lazaro" userId="cf3b5fea-f74d-49bc-8e05-a3978fbeb20d" providerId="ADAL" clId="{F21234F2-7902-4223-AD32-15D6AC04FB18}" dt="2026-09-12T12:30:57.558" v="29"/>
        <pc:sldMkLst>
          <pc:docMk/>
          <pc:sldMk cId="2710313877" sldId="21474704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13B83-EF2F-4E44-9553-6915159000F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E86C8-2229-476F-8542-BA2C87059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73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441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CA093-4890-4B46-98EB-711D340FBB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3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CA093-4890-4B46-98EB-711D340FBB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13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CA093-4890-4B46-98EB-711D340FBB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12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CA093-4890-4B46-98EB-711D340FBB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08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CC7B-F997-319B-E112-6AAA89CD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845D5-A2CA-587B-B4C3-319481474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148E0-8B1D-6C32-7124-0B926AAF0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207ED-6C92-5D18-936B-0AA9C2F79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CA093-4890-4B46-98EB-711D340FBB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09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025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FF57-DA22-2FEE-7289-2190946F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796C4-F14C-01E9-16E2-0C91FF422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8122E-195C-6925-42F2-CBADF84BC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6A214-A1A6-D471-CD3B-25EF631B5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644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D94D-24EC-3339-0178-B75842F1D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C8B92-4000-54E7-767A-A984E5079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784D9-2B9E-F3F9-BDCB-C43867D02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71DC5-4E22-030A-CE79-0CC9A50CF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23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D4991-F643-9301-DD6F-2FFDDA72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23793-441F-B997-3196-33A48E0BB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78FCE-A0EF-8389-A8E6-0AE775B6D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3EA1D-FDB1-34E4-4C26-79ECA3192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383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174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21357-B03F-74A1-9DA2-3AC7A9A4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3605D-35C1-578B-CF19-D1AF9581F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D06C9-48CA-5729-BEDF-CB23464B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B5974-7384-F45E-F2A1-0C1D3478D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574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620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C1F5-F7C8-6565-7FDB-AF7DC151C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02C93-3C20-EF60-53FE-DC942201B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8D7C2-835D-1BA8-963E-F69B131FF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D491F-D455-9864-8F12-21F40F4F3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413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3C16B-5807-4E24-E1DC-42311DCD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C81FC-2EFA-20E0-8470-6B69D1974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E6168-F80A-EB1E-3F23-20ED20F3E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82F5F-BCB9-9691-3FBD-6A1EBD698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228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BA34-E235-D514-B713-7C977F58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8908E-74C6-A8A4-8BFE-7BBF58B90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CCF0F-F289-E91B-8D92-884776FC6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5CE3B-B78F-6B0B-E837-A06508C9B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988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F936E-C8BB-81F9-3DB2-B6BBF128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6FBB0-A4AD-4455-9552-3C393CA09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9F510-F2D7-071E-DE4B-76F7B7664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E5029-BA61-B655-324F-C651E1431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F020C-8AB1-4AB6-A6CE-2852FBF6A49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871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8AC4-DB09-D724-D821-46A629A1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E5B64-DFA0-FD71-46E2-0E079327E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1D1D8-EA68-0365-86E1-68829EB91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ED8C0-E5FE-2823-31CD-CAB31BF68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37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F37B-575F-4571-942A-18FC73DDF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7703D-01CF-49F4-B2E5-10106A1D3B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01465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</a:p>
          <a:p>
            <a:r>
              <a:rPr lang="en-US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64610-F3CF-426E-933E-FC2C4DE2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9120" y="6356350"/>
            <a:ext cx="5034280" cy="365125"/>
          </a:xfrm>
        </p:spPr>
        <p:txBody>
          <a:bodyPr/>
          <a:lstStyle>
            <a:lvl1pPr>
              <a:defRPr sz="1600"/>
            </a:lvl1pPr>
          </a:lstStyle>
          <a:p>
            <a:r>
              <a:rPr lang="en-GB" sz="1600"/>
              <a:t>Real World Evidence using the OMOP Common Data Model</a:t>
            </a:r>
          </a:p>
        </p:txBody>
      </p:sp>
    </p:spTree>
    <p:extLst>
      <p:ext uri="{BB962C8B-B14F-4D97-AF65-F5344CB8AC3E}">
        <p14:creationId xmlns:p14="http://schemas.microsoft.com/office/powerpoint/2010/main" val="392073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7BAB-B57C-441D-9CAE-71DA8CC3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98329" cy="732155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E486-030A-4817-AB1B-DB32ECF1E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493"/>
            <a:ext cx="10515600" cy="4930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990C-CD34-4906-915A-731FE49A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A3BF-F729-481C-BDC1-21826FE2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GB" b="0" i="0" u="none" strike="noStrike" smtClean="0">
                <a:effectLst/>
              </a:defRPr>
            </a:lvl1pPr>
          </a:lstStyle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0EE4A-72EA-4640-8FFC-7E98647D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 descr="University of Oxford Employees, Location, Alumni | LinkedIn">
            <a:extLst>
              <a:ext uri="{FF2B5EF4-FFF2-40B4-BE49-F238E27FC236}">
                <a16:creationId xmlns:a16="http://schemas.microsoft.com/office/drawing/2014/main" id="{18949BAF-BD51-271B-2B6E-F45249E915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581" y="279125"/>
            <a:ext cx="821958" cy="82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3DD264-6739-95CA-286A-9FEEA75063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609" y="260673"/>
            <a:ext cx="762892" cy="88136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5FE363-CD8A-9341-BCAB-B70DF46C80EF}"/>
              </a:ext>
            </a:extLst>
          </p:cNvPr>
          <p:cNvCxnSpPr>
            <a:cxnSpLocks/>
          </p:cNvCxnSpPr>
          <p:nvPr userDrawn="1"/>
        </p:nvCxnSpPr>
        <p:spPr>
          <a:xfrm>
            <a:off x="-20320" y="1162361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08084A-6365-585F-F400-9A3BE1DDD8DE}"/>
              </a:ext>
            </a:extLst>
          </p:cNvPr>
          <p:cNvCxnSpPr>
            <a:cxnSpLocks/>
          </p:cNvCxnSpPr>
          <p:nvPr userDrawn="1"/>
        </p:nvCxnSpPr>
        <p:spPr>
          <a:xfrm>
            <a:off x="-10160" y="6252204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5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F66E-D954-40F8-BE7C-BDF86E22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86DD7-1655-4D67-91F5-6F63E25F7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5950D-1A0E-4F77-9AF0-59A95120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9825-BEE9-4897-8240-A13C7509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3D59-BF76-437D-A470-CC0D5E87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2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C1A7-A326-42C2-8C9C-D5EED399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09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3394-7C77-429A-8C5F-C5825D165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66507"/>
            <a:ext cx="5181600" cy="49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43B40-DF80-4788-98FC-BB7DD90F8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46186"/>
            <a:ext cx="5181600" cy="4930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B031C-D466-401F-B034-D68CC131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4860D-36E3-4660-A9AF-DBF89497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C9C42-9C73-4F53-B3F4-271EA3E9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2" descr="University of Oxford Employees, Location, Alumni | LinkedIn">
            <a:extLst>
              <a:ext uri="{FF2B5EF4-FFF2-40B4-BE49-F238E27FC236}">
                <a16:creationId xmlns:a16="http://schemas.microsoft.com/office/drawing/2014/main" id="{767FC830-ED0B-AA2E-D116-04D563B151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581" y="279125"/>
            <a:ext cx="821958" cy="82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9697CD-F354-41FA-6FDB-B25E9EE09F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609" y="260673"/>
            <a:ext cx="762892" cy="88136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28E928-181D-E1F3-55E8-DEB2E0AF964C}"/>
              </a:ext>
            </a:extLst>
          </p:cNvPr>
          <p:cNvCxnSpPr>
            <a:cxnSpLocks/>
          </p:cNvCxnSpPr>
          <p:nvPr userDrawn="1"/>
        </p:nvCxnSpPr>
        <p:spPr>
          <a:xfrm>
            <a:off x="-20320" y="1162361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42290D-9A2C-8B2C-47B4-A5BD3FE0C673}"/>
              </a:ext>
            </a:extLst>
          </p:cNvPr>
          <p:cNvCxnSpPr>
            <a:cxnSpLocks/>
          </p:cNvCxnSpPr>
          <p:nvPr userDrawn="1"/>
        </p:nvCxnSpPr>
        <p:spPr>
          <a:xfrm>
            <a:off x="-10160" y="6252204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12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571B-FB0A-4E68-B2E3-5DD4035A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9309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653BA-69DB-4038-8CC0-817FC8740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87136"/>
            <a:ext cx="5157787" cy="5721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0250C-6E2C-4DAF-B8DE-CF3A1B5D2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84054"/>
            <a:ext cx="5157787" cy="42056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B3403-C7B9-413B-A680-1087DBAA3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276976"/>
            <a:ext cx="5183188" cy="572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C5B2E-F364-4024-8730-A0F6B9A95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84046"/>
            <a:ext cx="5183188" cy="42056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F9A2A4-9571-4FE9-8847-A4A03686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8A260-10E0-411C-B230-9D5B35BB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1382E-E26B-4581-A37E-F546E89B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2" descr="University of Oxford Employees, Location, Alumni | LinkedIn">
            <a:extLst>
              <a:ext uri="{FF2B5EF4-FFF2-40B4-BE49-F238E27FC236}">
                <a16:creationId xmlns:a16="http://schemas.microsoft.com/office/drawing/2014/main" id="{A4450457-EFFE-CBC3-A01A-503D72FD72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581" y="279125"/>
            <a:ext cx="821958" cy="82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AFEADD-E625-5841-50FC-79F79A4CB8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609" y="260673"/>
            <a:ext cx="762892" cy="8813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D485A9-CFF0-E5C0-08B2-996AC491CB3F}"/>
              </a:ext>
            </a:extLst>
          </p:cNvPr>
          <p:cNvCxnSpPr>
            <a:cxnSpLocks/>
          </p:cNvCxnSpPr>
          <p:nvPr userDrawn="1"/>
        </p:nvCxnSpPr>
        <p:spPr>
          <a:xfrm>
            <a:off x="-20320" y="1162361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A9A75-4A3A-360B-E66D-9612771E3485}"/>
              </a:ext>
            </a:extLst>
          </p:cNvPr>
          <p:cNvCxnSpPr>
            <a:cxnSpLocks/>
          </p:cNvCxnSpPr>
          <p:nvPr userDrawn="1"/>
        </p:nvCxnSpPr>
        <p:spPr>
          <a:xfrm>
            <a:off x="-10160" y="6252204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51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2527-85AB-4163-8B63-86486F0C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09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EB747-1525-41A8-B8CA-3ED9D377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5B177-FF99-40EB-81B0-C5777BF1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DC663-A61B-48AB-A1CE-13CE5AB0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2" descr="University of Oxford Employees, Location, Alumni | LinkedIn">
            <a:extLst>
              <a:ext uri="{FF2B5EF4-FFF2-40B4-BE49-F238E27FC236}">
                <a16:creationId xmlns:a16="http://schemas.microsoft.com/office/drawing/2014/main" id="{1B81F09D-6A64-B81F-69CC-0A0D35FFE6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581" y="279125"/>
            <a:ext cx="821958" cy="82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B066BF-9819-851D-8A76-8E509AC9BC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609" y="260673"/>
            <a:ext cx="762892" cy="88136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C0502F-F549-E7F4-B754-A5A14EAF063F}"/>
              </a:ext>
            </a:extLst>
          </p:cNvPr>
          <p:cNvCxnSpPr>
            <a:cxnSpLocks/>
          </p:cNvCxnSpPr>
          <p:nvPr userDrawn="1"/>
        </p:nvCxnSpPr>
        <p:spPr>
          <a:xfrm>
            <a:off x="-20320" y="1162361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DAE069-9B43-58E9-55EA-CEC3C520E2A2}"/>
              </a:ext>
            </a:extLst>
          </p:cNvPr>
          <p:cNvCxnSpPr>
            <a:cxnSpLocks/>
          </p:cNvCxnSpPr>
          <p:nvPr userDrawn="1"/>
        </p:nvCxnSpPr>
        <p:spPr>
          <a:xfrm>
            <a:off x="-10160" y="6252204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80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136DB-1537-4A24-B38D-A9C79DAB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5F4AE-BC45-4E73-8843-9CC0D8CA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31560-3D45-4B58-A521-73CA0F17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84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F238-B6D2-42EA-9CBE-277C990A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D90D-8439-4D5E-BFDB-1EC45A26C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ECE46-7AC4-4061-B5F6-F339ED5B5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D6A3-C87A-4F1B-A15C-F5F9334B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B1EFB-470F-4DCB-8026-04C3A0D3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D87A2-5B19-4D0C-BF79-ED58A1A5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81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3CA3-785D-4DBF-BB0E-437E5AD1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55ECD-6E32-4A5C-802A-9535AC91A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36856-41DA-419A-ABE5-FADEED441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2852-8AE1-498E-B285-AAD0A191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5B233-3F86-4B16-BA58-E3B9B2E4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4A458-CEAD-4242-B579-E96C7AF5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05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BF67-08A3-4A0C-98DF-7C974BB3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3CD55-9B95-49AB-B50C-0DA7EB03E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D8855-2180-4C44-A600-CFBED5A6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36EB-7FFB-4DCD-9F02-C4CE3CE5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F7C60-AD56-4E96-B0B2-BA42BCDF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3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CFBA06-819F-4518-A2E6-33E5D5D0A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E117D-AD28-49FE-A914-DE7F92495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E8B3C-EC0C-47A3-8DBC-7A00059D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B66B6-5443-4FDC-9F60-81315CAB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1EB6F-D754-45CA-8EF7-55A344F1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20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AADF8-BCEC-41A7-85FE-E17B74A05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F635F-23FA-413E-BA96-6D6CEF7C9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FD78A-6950-479F-AA7C-0CCC905F5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F9A35-8FF0-42A2-A8FC-5DEB33831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CC59-0E4E-48CB-97F1-842534B93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28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tlas.ohdsi.org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hdsi.github.io/CohortConstructor/reference/index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ilto:John.smith@ndorms.ox.ac.uk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58D3B1-BC84-4A80-8FC6-84A18B031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2713" y="1558175"/>
            <a:ext cx="8725397" cy="1052221"/>
          </a:xfrm>
        </p:spPr>
        <p:txBody>
          <a:bodyPr>
            <a:noAutofit/>
          </a:bodyPr>
          <a:lstStyle/>
          <a:p>
            <a:r>
              <a:rPr lang="en-GB" sz="4400" dirty="0">
                <a:latin typeface="Arial"/>
                <a:cs typeface="Arial"/>
              </a:rPr>
              <a:t>Cohort definition and creation </a:t>
            </a:r>
            <a:br>
              <a:rPr lang="en-GB" sz="440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</a:br>
            <a:endParaRPr lang="en-GB" sz="4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C3F26AB-2B15-43A3-A68C-3CAA11B62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5841" y="6206522"/>
            <a:ext cx="3026134" cy="601598"/>
          </a:xfrm>
        </p:spPr>
        <p:txBody>
          <a:bodyPr anchor="ctr">
            <a:normAutofit/>
          </a:bodyPr>
          <a:lstStyle/>
          <a:p>
            <a:r>
              <a:rPr lang="en-GB" sz="1800" dirty="0">
                <a:solidFill>
                  <a:schemeClr val="bg1">
                    <a:lumMod val="65000"/>
                  </a:schemeClr>
                </a:solidFill>
              </a:rPr>
              <a:t>17</a:t>
            </a:r>
            <a:r>
              <a:rPr lang="en-GB" sz="1800" baseline="30000" dirty="0">
                <a:solidFill>
                  <a:schemeClr val="bg1">
                    <a:lumMod val="65000"/>
                  </a:schemeClr>
                </a:solidFill>
              </a:rPr>
              <a:t>th</a:t>
            </a:r>
            <a:r>
              <a:rPr lang="en-GB" sz="1800" dirty="0">
                <a:solidFill>
                  <a:schemeClr val="bg1">
                    <a:lumMod val="65000"/>
                  </a:schemeClr>
                </a:solidFill>
              </a:rPr>
              <a:t> September 2026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909415F-DD6C-429B-BA5E-4B72AD1A188F}"/>
              </a:ext>
            </a:extLst>
          </p:cNvPr>
          <p:cNvSpPr txBox="1">
            <a:spLocks/>
          </p:cNvSpPr>
          <p:nvPr/>
        </p:nvSpPr>
        <p:spPr>
          <a:xfrm>
            <a:off x="1293412" y="2191296"/>
            <a:ext cx="9144000" cy="21289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/>
              <a:t>Anna Saura-Lazaro</a:t>
            </a:r>
          </a:p>
          <a:p>
            <a:endParaRPr lang="en-GB" sz="3200" dirty="0"/>
          </a:p>
          <a:p>
            <a:r>
              <a:rPr lang="en-GB" sz="1800" dirty="0"/>
              <a:t>OHDSI UK: 4th Annual Meeting: Training Day – </a:t>
            </a:r>
            <a:r>
              <a:rPr lang="en-GB" sz="1800" b="1" dirty="0"/>
              <a:t>Clinical Phenotyping</a:t>
            </a:r>
          </a:p>
        </p:txBody>
      </p:sp>
      <p:pic>
        <p:nvPicPr>
          <p:cNvPr id="3" name="Picture 2" descr="University of Oxford Employees, Location, Alumni | LinkedIn">
            <a:extLst>
              <a:ext uri="{FF2B5EF4-FFF2-40B4-BE49-F238E27FC236}">
                <a16:creationId xmlns:a16="http://schemas.microsoft.com/office/drawing/2014/main" id="{F1A112D7-7F96-4B0C-8376-2EFEBF474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60" y="4766522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7C9DB-4EEF-CDD1-7972-407A1979B1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958" y="4766522"/>
            <a:ext cx="1246440" cy="1440000"/>
          </a:xfrm>
          <a:prstGeom prst="rect">
            <a:avLst/>
          </a:prstGeom>
        </p:spPr>
      </p:pic>
      <p:pic>
        <p:nvPicPr>
          <p:cNvPr id="2" name="Picture 1" descr="collaborators">
            <a:extLst>
              <a:ext uri="{FF2B5EF4-FFF2-40B4-BE49-F238E27FC236}">
                <a16:creationId xmlns:a16="http://schemas.microsoft.com/office/drawing/2014/main" id="{313ABC2B-5150-4DC4-EE1C-84F0A7644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7554" y="4766522"/>
            <a:ext cx="2655442" cy="1327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3ADBF7-3461-E5FD-EE68-AAFF1D4F15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343" b="26596"/>
          <a:stretch>
            <a:fillRect/>
          </a:stretch>
        </p:blipFill>
        <p:spPr>
          <a:xfrm>
            <a:off x="8229268" y="4835889"/>
            <a:ext cx="2792565" cy="125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7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F6181-F9A1-305E-AD7A-5FBD2B2D1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BA7113D-45E7-08F9-0972-95936D6450D3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4908264-8779-97E3-9C98-D974B6A8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EC5F95C-C979-8B5A-9793-BF25EB36AC55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Real World Evidence using the OMOP Common Data Model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53F939-40EB-AA06-BEB7-8979C11D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9D0EE-54FF-9E6D-3D23-D15149B0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0575" y="6356350"/>
            <a:ext cx="4114800" cy="365125"/>
          </a:xfrm>
        </p:spPr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56AB21A4-1E73-711D-1076-1CACC231E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061" y="875168"/>
            <a:ext cx="7800975" cy="5770107"/>
          </a:xfrm>
          <a:prstGeom prst="rect">
            <a:avLst/>
          </a:prstGeom>
        </p:spPr>
      </p:pic>
      <p:sp>
        <p:nvSpPr>
          <p:cNvPr id="11" name="Rectángulo 3">
            <a:extLst>
              <a:ext uri="{FF2B5EF4-FFF2-40B4-BE49-F238E27FC236}">
                <a16:creationId xmlns:a16="http://schemas.microsoft.com/office/drawing/2014/main" id="{2851651A-C675-02F1-F707-61E2974259DA}"/>
              </a:ext>
            </a:extLst>
          </p:cNvPr>
          <p:cNvSpPr/>
          <p:nvPr/>
        </p:nvSpPr>
        <p:spPr>
          <a:xfrm>
            <a:off x="5608698" y="5266166"/>
            <a:ext cx="686339" cy="265948"/>
          </a:xfrm>
          <a:custGeom>
            <a:avLst/>
            <a:gdLst>
              <a:gd name="connsiteX0" fmla="*/ 0 w 687806"/>
              <a:gd name="connsiteY0" fmla="*/ 0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0 w 687806"/>
              <a:gd name="connsiteY4" fmla="*/ 0 h 270711"/>
              <a:gd name="connsiteX0" fmla="*/ 16669 w 687806"/>
              <a:gd name="connsiteY0" fmla="*/ 23812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16669 w 687806"/>
              <a:gd name="connsiteY4" fmla="*/ 23812 h 270711"/>
              <a:gd name="connsiteX0" fmla="*/ 16669 w 687806"/>
              <a:gd name="connsiteY0" fmla="*/ 0 h 246899"/>
              <a:gd name="connsiteX1" fmla="*/ 611606 w 687806"/>
              <a:gd name="connsiteY1" fmla="*/ 9526 h 246899"/>
              <a:gd name="connsiteX2" fmla="*/ 687806 w 687806"/>
              <a:gd name="connsiteY2" fmla="*/ 246899 h 246899"/>
              <a:gd name="connsiteX3" fmla="*/ 0 w 687806"/>
              <a:gd name="connsiteY3" fmla="*/ 246899 h 246899"/>
              <a:gd name="connsiteX4" fmla="*/ 16669 w 687806"/>
              <a:gd name="connsiteY4" fmla="*/ 0 h 246899"/>
              <a:gd name="connsiteX0" fmla="*/ 16669 w 611606"/>
              <a:gd name="connsiteY0" fmla="*/ 0 h 249280"/>
              <a:gd name="connsiteX1" fmla="*/ 611606 w 611606"/>
              <a:gd name="connsiteY1" fmla="*/ 9526 h 249280"/>
              <a:gd name="connsiteX2" fmla="*/ 523500 w 611606"/>
              <a:gd name="connsiteY2" fmla="*/ 249280 h 249280"/>
              <a:gd name="connsiteX3" fmla="*/ 0 w 611606"/>
              <a:gd name="connsiteY3" fmla="*/ 246899 h 249280"/>
              <a:gd name="connsiteX4" fmla="*/ 16669 w 611606"/>
              <a:gd name="connsiteY4" fmla="*/ 0 h 249280"/>
              <a:gd name="connsiteX0" fmla="*/ 0 w 594937"/>
              <a:gd name="connsiteY0" fmla="*/ 0 h 249280"/>
              <a:gd name="connsiteX1" fmla="*/ 594937 w 594937"/>
              <a:gd name="connsiteY1" fmla="*/ 9526 h 249280"/>
              <a:gd name="connsiteX2" fmla="*/ 506831 w 594937"/>
              <a:gd name="connsiteY2" fmla="*/ 249280 h 249280"/>
              <a:gd name="connsiteX3" fmla="*/ 69056 w 594937"/>
              <a:gd name="connsiteY3" fmla="*/ 239755 h 249280"/>
              <a:gd name="connsiteX4" fmla="*/ 0 w 594937"/>
              <a:gd name="connsiteY4" fmla="*/ 0 h 249280"/>
              <a:gd name="connsiteX0" fmla="*/ 0 w 566362"/>
              <a:gd name="connsiteY0" fmla="*/ 0 h 282617"/>
              <a:gd name="connsiteX1" fmla="*/ 566362 w 566362"/>
              <a:gd name="connsiteY1" fmla="*/ 42863 h 282617"/>
              <a:gd name="connsiteX2" fmla="*/ 478256 w 566362"/>
              <a:gd name="connsiteY2" fmla="*/ 282617 h 282617"/>
              <a:gd name="connsiteX3" fmla="*/ 40481 w 566362"/>
              <a:gd name="connsiteY3" fmla="*/ 273092 h 282617"/>
              <a:gd name="connsiteX4" fmla="*/ 0 w 566362"/>
              <a:gd name="connsiteY4" fmla="*/ 0 h 282617"/>
              <a:gd name="connsiteX0" fmla="*/ 0 w 525881"/>
              <a:gd name="connsiteY0" fmla="*/ 0 h 282617"/>
              <a:gd name="connsiteX1" fmla="*/ 525881 w 525881"/>
              <a:gd name="connsiteY1" fmla="*/ 7144 h 282617"/>
              <a:gd name="connsiteX2" fmla="*/ 478256 w 525881"/>
              <a:gd name="connsiteY2" fmla="*/ 282617 h 282617"/>
              <a:gd name="connsiteX3" fmla="*/ 40481 w 525881"/>
              <a:gd name="connsiteY3" fmla="*/ 273092 h 282617"/>
              <a:gd name="connsiteX4" fmla="*/ 0 w 525881"/>
              <a:gd name="connsiteY4" fmla="*/ 0 h 282617"/>
              <a:gd name="connsiteX0" fmla="*/ 0 w 593094"/>
              <a:gd name="connsiteY0" fmla="*/ 0 h 282617"/>
              <a:gd name="connsiteX1" fmla="*/ 525881 w 593094"/>
              <a:gd name="connsiteY1" fmla="*/ 7144 h 282617"/>
              <a:gd name="connsiteX2" fmla="*/ 592556 w 593094"/>
              <a:gd name="connsiteY2" fmla="*/ 152400 h 282617"/>
              <a:gd name="connsiteX3" fmla="*/ 478256 w 593094"/>
              <a:gd name="connsiteY3" fmla="*/ 282617 h 282617"/>
              <a:gd name="connsiteX4" fmla="*/ 40481 w 593094"/>
              <a:gd name="connsiteY4" fmla="*/ 273092 h 282617"/>
              <a:gd name="connsiteX5" fmla="*/ 0 w 593094"/>
              <a:gd name="connsiteY5" fmla="*/ 0 h 282617"/>
              <a:gd name="connsiteX0" fmla="*/ 109914 w 703008"/>
              <a:gd name="connsiteY0" fmla="*/ 0 h 282617"/>
              <a:gd name="connsiteX1" fmla="*/ 635795 w 703008"/>
              <a:gd name="connsiteY1" fmla="*/ 7144 h 282617"/>
              <a:gd name="connsiteX2" fmla="*/ 702470 w 703008"/>
              <a:gd name="connsiteY2" fmla="*/ 152400 h 282617"/>
              <a:gd name="connsiteX3" fmla="*/ 588170 w 703008"/>
              <a:gd name="connsiteY3" fmla="*/ 282617 h 282617"/>
              <a:gd name="connsiteX4" fmla="*/ 150395 w 703008"/>
              <a:gd name="connsiteY4" fmla="*/ 273092 h 282617"/>
              <a:gd name="connsiteX5" fmla="*/ 0 w 703008"/>
              <a:gd name="connsiteY5" fmla="*/ 135731 h 282617"/>
              <a:gd name="connsiteX6" fmla="*/ 109914 w 703008"/>
              <a:gd name="connsiteY6" fmla="*/ 0 h 282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3008" h="282617">
                <a:moveTo>
                  <a:pt x="109914" y="0"/>
                </a:moveTo>
                <a:lnTo>
                  <a:pt x="635795" y="7144"/>
                </a:lnTo>
                <a:cubicBezTo>
                  <a:pt x="627857" y="55563"/>
                  <a:pt x="710408" y="103981"/>
                  <a:pt x="702470" y="152400"/>
                </a:cubicBezTo>
                <a:lnTo>
                  <a:pt x="588170" y="282617"/>
                </a:lnTo>
                <a:lnTo>
                  <a:pt x="150395" y="273092"/>
                </a:lnTo>
                <a:cubicBezTo>
                  <a:pt x="142332" y="229686"/>
                  <a:pt x="8063" y="179137"/>
                  <a:pt x="0" y="135731"/>
                </a:cubicBezTo>
                <a:lnTo>
                  <a:pt x="10991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3">
              <a:defRPr/>
            </a:pPr>
            <a:r>
              <a:rPr lang="en-GB" sz="600" dirty="0">
                <a:solidFill>
                  <a:prstClr val="black"/>
                </a:solidFill>
                <a:latin typeface="Calibri" panose="020F0502020204030204"/>
              </a:rPr>
              <a:t>Risk of</a:t>
            </a:r>
          </a:p>
          <a:p>
            <a:pPr algn="ctr" defTabSz="914363">
              <a:defRPr/>
            </a:pPr>
            <a:r>
              <a:rPr lang="en-GB" sz="600" dirty="0">
                <a:solidFill>
                  <a:prstClr val="black"/>
                </a:solidFill>
                <a:latin typeface="Calibri" panose="020F0502020204030204"/>
              </a:rPr>
              <a:t>misclassification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08512C-E9BC-02CB-2B11-EC28B20A4AAC}"/>
              </a:ext>
            </a:extLst>
          </p:cNvPr>
          <p:cNvSpPr txBox="1"/>
          <p:nvPr/>
        </p:nvSpPr>
        <p:spPr>
          <a:xfrm>
            <a:off x="4810567" y="765681"/>
            <a:ext cx="1845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0C0"/>
                </a:solidFill>
                <a:latin typeface="FoundrySterling-Bold" panose="02000700000000000000" pitchFamily="2" charset="0"/>
              </a:defRPr>
            </a:lvl1pPr>
          </a:lstStyle>
          <a:p>
            <a:pPr defTabSz="914363">
              <a:defRPr/>
            </a:pPr>
            <a:r>
              <a:rPr lang="en-GB" b="1" dirty="0">
                <a:solidFill>
                  <a:schemeClr val="accent1"/>
                </a:solidFill>
              </a:rPr>
              <a:t>1. PROPOSAL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C7F3EB-A2DD-96AC-F8D1-919BAE51115F}"/>
              </a:ext>
            </a:extLst>
          </p:cNvPr>
          <p:cNvSpPr txBox="1"/>
          <p:nvPr/>
        </p:nvSpPr>
        <p:spPr>
          <a:xfrm>
            <a:off x="1949866" y="5654911"/>
            <a:ext cx="1845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4. CODE LIST GENERATION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F9091A-F3DB-B3DC-40E8-FD3D3438378B}"/>
              </a:ext>
            </a:extLst>
          </p:cNvPr>
          <p:cNvSpPr txBox="1"/>
          <p:nvPr/>
        </p:nvSpPr>
        <p:spPr>
          <a:xfrm>
            <a:off x="6333137" y="4916612"/>
            <a:ext cx="18457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5. COHORT DEFINITION &amp; CREATION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E4637F-0739-3ED7-6F24-031941DBEF74}"/>
              </a:ext>
            </a:extLst>
          </p:cNvPr>
          <p:cNvSpPr txBox="1"/>
          <p:nvPr/>
        </p:nvSpPr>
        <p:spPr>
          <a:xfrm>
            <a:off x="1040342" y="1942131"/>
            <a:ext cx="1562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14 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64DC11-238C-9309-5492-463FAE2AC2B1}"/>
              </a:ext>
            </a:extLst>
          </p:cNvPr>
          <p:cNvSpPr txBox="1"/>
          <p:nvPr/>
        </p:nvSpPr>
        <p:spPr>
          <a:xfrm>
            <a:off x="4269377" y="2300223"/>
            <a:ext cx="2386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2. PHENOTYPE EXISTS?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D900A7-0599-D374-6B4B-49BDC2000218}"/>
              </a:ext>
            </a:extLst>
          </p:cNvPr>
          <p:cNvSpPr txBox="1"/>
          <p:nvPr/>
        </p:nvSpPr>
        <p:spPr>
          <a:xfrm>
            <a:off x="7265570" y="6202144"/>
            <a:ext cx="2386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6. PHENOTYPE EVALUATION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B18CC7-8F70-36C2-A82A-00F7393150A7}"/>
              </a:ext>
            </a:extLst>
          </p:cNvPr>
          <p:cNvSpPr txBox="1"/>
          <p:nvPr/>
        </p:nvSpPr>
        <p:spPr>
          <a:xfrm>
            <a:off x="1061562" y="2523712"/>
            <a:ext cx="1562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7 phases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FED8DCA-0AFF-D9B5-EE3F-C3928EB5C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98329" cy="732155"/>
          </a:xfrm>
        </p:spPr>
        <p:txBody>
          <a:bodyPr/>
          <a:lstStyle/>
          <a:p>
            <a:r>
              <a:rPr lang="en-GB" dirty="0"/>
              <a:t>Phenotyping 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792961-3363-AEDB-427A-8BCACB768705}"/>
              </a:ext>
            </a:extLst>
          </p:cNvPr>
          <p:cNvSpPr txBox="1"/>
          <p:nvPr/>
        </p:nvSpPr>
        <p:spPr>
          <a:xfrm>
            <a:off x="9490204" y="2484889"/>
            <a:ext cx="143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7. STORAGE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9F9AC8-1654-EF8D-790B-D108733F16E3}"/>
              </a:ext>
            </a:extLst>
          </p:cNvPr>
          <p:cNvSpPr txBox="1"/>
          <p:nvPr/>
        </p:nvSpPr>
        <p:spPr>
          <a:xfrm>
            <a:off x="4653879" y="3851456"/>
            <a:ext cx="1679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3. CLINICAL DESCRIPTION</a:t>
            </a:r>
          </a:p>
        </p:txBody>
      </p:sp>
    </p:spTree>
    <p:extLst>
      <p:ext uri="{BB962C8B-B14F-4D97-AF65-F5344CB8AC3E}">
        <p14:creationId xmlns:p14="http://schemas.microsoft.com/office/powerpoint/2010/main" val="164530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224B8-67B4-6D0F-C931-E5DA0F34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82F370-CBCD-E719-AB41-0BCE509CF84B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BCACCF4-1DD8-9F07-DB1E-05E4154C3B42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Real World Evidence using the OMOP Common Data Model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5698DC3-87F7-A50F-618A-91E51FF7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A1DFA-6A91-5C01-1F77-4A07C2D2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0575" y="6356350"/>
            <a:ext cx="4114800" cy="365125"/>
          </a:xfrm>
        </p:spPr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307DC06-BA84-466B-F4C5-6FA52D8A1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061" y="875168"/>
            <a:ext cx="7800975" cy="5770107"/>
          </a:xfrm>
          <a:prstGeom prst="rect">
            <a:avLst/>
          </a:prstGeom>
        </p:spPr>
      </p:pic>
      <p:sp>
        <p:nvSpPr>
          <p:cNvPr id="11" name="Rectángulo 3">
            <a:extLst>
              <a:ext uri="{FF2B5EF4-FFF2-40B4-BE49-F238E27FC236}">
                <a16:creationId xmlns:a16="http://schemas.microsoft.com/office/drawing/2014/main" id="{6D5F3B50-AC4B-46D8-A26A-BDF16D9662D1}"/>
              </a:ext>
            </a:extLst>
          </p:cNvPr>
          <p:cNvSpPr/>
          <p:nvPr/>
        </p:nvSpPr>
        <p:spPr>
          <a:xfrm>
            <a:off x="5608698" y="5266166"/>
            <a:ext cx="686339" cy="265948"/>
          </a:xfrm>
          <a:custGeom>
            <a:avLst/>
            <a:gdLst>
              <a:gd name="connsiteX0" fmla="*/ 0 w 687806"/>
              <a:gd name="connsiteY0" fmla="*/ 0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0 w 687806"/>
              <a:gd name="connsiteY4" fmla="*/ 0 h 270711"/>
              <a:gd name="connsiteX0" fmla="*/ 16669 w 687806"/>
              <a:gd name="connsiteY0" fmla="*/ 23812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16669 w 687806"/>
              <a:gd name="connsiteY4" fmla="*/ 23812 h 270711"/>
              <a:gd name="connsiteX0" fmla="*/ 16669 w 687806"/>
              <a:gd name="connsiteY0" fmla="*/ 0 h 246899"/>
              <a:gd name="connsiteX1" fmla="*/ 611606 w 687806"/>
              <a:gd name="connsiteY1" fmla="*/ 9526 h 246899"/>
              <a:gd name="connsiteX2" fmla="*/ 687806 w 687806"/>
              <a:gd name="connsiteY2" fmla="*/ 246899 h 246899"/>
              <a:gd name="connsiteX3" fmla="*/ 0 w 687806"/>
              <a:gd name="connsiteY3" fmla="*/ 246899 h 246899"/>
              <a:gd name="connsiteX4" fmla="*/ 16669 w 687806"/>
              <a:gd name="connsiteY4" fmla="*/ 0 h 246899"/>
              <a:gd name="connsiteX0" fmla="*/ 16669 w 611606"/>
              <a:gd name="connsiteY0" fmla="*/ 0 h 249280"/>
              <a:gd name="connsiteX1" fmla="*/ 611606 w 611606"/>
              <a:gd name="connsiteY1" fmla="*/ 9526 h 249280"/>
              <a:gd name="connsiteX2" fmla="*/ 523500 w 611606"/>
              <a:gd name="connsiteY2" fmla="*/ 249280 h 249280"/>
              <a:gd name="connsiteX3" fmla="*/ 0 w 611606"/>
              <a:gd name="connsiteY3" fmla="*/ 246899 h 249280"/>
              <a:gd name="connsiteX4" fmla="*/ 16669 w 611606"/>
              <a:gd name="connsiteY4" fmla="*/ 0 h 249280"/>
              <a:gd name="connsiteX0" fmla="*/ 0 w 594937"/>
              <a:gd name="connsiteY0" fmla="*/ 0 h 249280"/>
              <a:gd name="connsiteX1" fmla="*/ 594937 w 594937"/>
              <a:gd name="connsiteY1" fmla="*/ 9526 h 249280"/>
              <a:gd name="connsiteX2" fmla="*/ 506831 w 594937"/>
              <a:gd name="connsiteY2" fmla="*/ 249280 h 249280"/>
              <a:gd name="connsiteX3" fmla="*/ 69056 w 594937"/>
              <a:gd name="connsiteY3" fmla="*/ 239755 h 249280"/>
              <a:gd name="connsiteX4" fmla="*/ 0 w 594937"/>
              <a:gd name="connsiteY4" fmla="*/ 0 h 249280"/>
              <a:gd name="connsiteX0" fmla="*/ 0 w 566362"/>
              <a:gd name="connsiteY0" fmla="*/ 0 h 282617"/>
              <a:gd name="connsiteX1" fmla="*/ 566362 w 566362"/>
              <a:gd name="connsiteY1" fmla="*/ 42863 h 282617"/>
              <a:gd name="connsiteX2" fmla="*/ 478256 w 566362"/>
              <a:gd name="connsiteY2" fmla="*/ 282617 h 282617"/>
              <a:gd name="connsiteX3" fmla="*/ 40481 w 566362"/>
              <a:gd name="connsiteY3" fmla="*/ 273092 h 282617"/>
              <a:gd name="connsiteX4" fmla="*/ 0 w 566362"/>
              <a:gd name="connsiteY4" fmla="*/ 0 h 282617"/>
              <a:gd name="connsiteX0" fmla="*/ 0 w 525881"/>
              <a:gd name="connsiteY0" fmla="*/ 0 h 282617"/>
              <a:gd name="connsiteX1" fmla="*/ 525881 w 525881"/>
              <a:gd name="connsiteY1" fmla="*/ 7144 h 282617"/>
              <a:gd name="connsiteX2" fmla="*/ 478256 w 525881"/>
              <a:gd name="connsiteY2" fmla="*/ 282617 h 282617"/>
              <a:gd name="connsiteX3" fmla="*/ 40481 w 525881"/>
              <a:gd name="connsiteY3" fmla="*/ 273092 h 282617"/>
              <a:gd name="connsiteX4" fmla="*/ 0 w 525881"/>
              <a:gd name="connsiteY4" fmla="*/ 0 h 282617"/>
              <a:gd name="connsiteX0" fmla="*/ 0 w 593094"/>
              <a:gd name="connsiteY0" fmla="*/ 0 h 282617"/>
              <a:gd name="connsiteX1" fmla="*/ 525881 w 593094"/>
              <a:gd name="connsiteY1" fmla="*/ 7144 h 282617"/>
              <a:gd name="connsiteX2" fmla="*/ 592556 w 593094"/>
              <a:gd name="connsiteY2" fmla="*/ 152400 h 282617"/>
              <a:gd name="connsiteX3" fmla="*/ 478256 w 593094"/>
              <a:gd name="connsiteY3" fmla="*/ 282617 h 282617"/>
              <a:gd name="connsiteX4" fmla="*/ 40481 w 593094"/>
              <a:gd name="connsiteY4" fmla="*/ 273092 h 282617"/>
              <a:gd name="connsiteX5" fmla="*/ 0 w 593094"/>
              <a:gd name="connsiteY5" fmla="*/ 0 h 282617"/>
              <a:gd name="connsiteX0" fmla="*/ 109914 w 703008"/>
              <a:gd name="connsiteY0" fmla="*/ 0 h 282617"/>
              <a:gd name="connsiteX1" fmla="*/ 635795 w 703008"/>
              <a:gd name="connsiteY1" fmla="*/ 7144 h 282617"/>
              <a:gd name="connsiteX2" fmla="*/ 702470 w 703008"/>
              <a:gd name="connsiteY2" fmla="*/ 152400 h 282617"/>
              <a:gd name="connsiteX3" fmla="*/ 588170 w 703008"/>
              <a:gd name="connsiteY3" fmla="*/ 282617 h 282617"/>
              <a:gd name="connsiteX4" fmla="*/ 150395 w 703008"/>
              <a:gd name="connsiteY4" fmla="*/ 273092 h 282617"/>
              <a:gd name="connsiteX5" fmla="*/ 0 w 703008"/>
              <a:gd name="connsiteY5" fmla="*/ 135731 h 282617"/>
              <a:gd name="connsiteX6" fmla="*/ 109914 w 703008"/>
              <a:gd name="connsiteY6" fmla="*/ 0 h 282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3008" h="282617">
                <a:moveTo>
                  <a:pt x="109914" y="0"/>
                </a:moveTo>
                <a:lnTo>
                  <a:pt x="635795" y="7144"/>
                </a:lnTo>
                <a:cubicBezTo>
                  <a:pt x="627857" y="55563"/>
                  <a:pt x="710408" y="103981"/>
                  <a:pt x="702470" y="152400"/>
                </a:cubicBezTo>
                <a:lnTo>
                  <a:pt x="588170" y="282617"/>
                </a:lnTo>
                <a:lnTo>
                  <a:pt x="150395" y="273092"/>
                </a:lnTo>
                <a:cubicBezTo>
                  <a:pt x="142332" y="229686"/>
                  <a:pt x="8063" y="179137"/>
                  <a:pt x="0" y="135731"/>
                </a:cubicBezTo>
                <a:lnTo>
                  <a:pt x="10991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3">
              <a:defRPr/>
            </a:pPr>
            <a:r>
              <a:rPr lang="en-GB" sz="600" dirty="0">
                <a:solidFill>
                  <a:prstClr val="black"/>
                </a:solidFill>
                <a:latin typeface="Calibri" panose="020F0502020204030204"/>
              </a:rPr>
              <a:t>Risk of</a:t>
            </a:r>
          </a:p>
          <a:p>
            <a:pPr algn="ctr" defTabSz="914363">
              <a:defRPr/>
            </a:pPr>
            <a:r>
              <a:rPr lang="en-GB" sz="600" dirty="0">
                <a:solidFill>
                  <a:prstClr val="black"/>
                </a:solidFill>
                <a:latin typeface="Calibri" panose="020F0502020204030204"/>
              </a:rPr>
              <a:t>misclassification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B134E0-9002-2B90-CB98-C9CD38D50E5D}"/>
              </a:ext>
            </a:extLst>
          </p:cNvPr>
          <p:cNvSpPr txBox="1"/>
          <p:nvPr/>
        </p:nvSpPr>
        <p:spPr>
          <a:xfrm>
            <a:off x="4810567" y="765681"/>
            <a:ext cx="1845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0C0"/>
                </a:solidFill>
                <a:latin typeface="FoundrySterling-Bold" panose="02000700000000000000" pitchFamily="2" charset="0"/>
              </a:defRPr>
            </a:lvl1pPr>
          </a:lstStyle>
          <a:p>
            <a:pPr defTabSz="914363">
              <a:defRPr/>
            </a:pPr>
            <a:r>
              <a:rPr lang="en-GB" b="1" dirty="0">
                <a:solidFill>
                  <a:schemeClr val="accent1"/>
                </a:solidFill>
              </a:rPr>
              <a:t>1. PROPOSAL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1A5870-B98B-9999-E583-8B1A7AB60B4B}"/>
              </a:ext>
            </a:extLst>
          </p:cNvPr>
          <p:cNvSpPr txBox="1"/>
          <p:nvPr/>
        </p:nvSpPr>
        <p:spPr>
          <a:xfrm>
            <a:off x="1949866" y="5654911"/>
            <a:ext cx="1845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4. CODE LIST GENERATION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9B58A-F260-2DDC-22E6-4722DCE8FA3F}"/>
              </a:ext>
            </a:extLst>
          </p:cNvPr>
          <p:cNvSpPr txBox="1"/>
          <p:nvPr/>
        </p:nvSpPr>
        <p:spPr>
          <a:xfrm>
            <a:off x="6333137" y="4916612"/>
            <a:ext cx="18457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5. COHORT DEFINITION &amp; CREATION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B5756-17B9-CA80-4B75-95245783C595}"/>
              </a:ext>
            </a:extLst>
          </p:cNvPr>
          <p:cNvSpPr txBox="1"/>
          <p:nvPr/>
        </p:nvSpPr>
        <p:spPr>
          <a:xfrm>
            <a:off x="1040342" y="1942131"/>
            <a:ext cx="1562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14 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B1063-C614-CF4A-483D-279F5698F9A1}"/>
              </a:ext>
            </a:extLst>
          </p:cNvPr>
          <p:cNvSpPr txBox="1"/>
          <p:nvPr/>
        </p:nvSpPr>
        <p:spPr>
          <a:xfrm>
            <a:off x="4269377" y="2300223"/>
            <a:ext cx="2386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2. PHENOTYPE EXISTS?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D5370-3DC5-533A-F9BD-F4B781266981}"/>
              </a:ext>
            </a:extLst>
          </p:cNvPr>
          <p:cNvSpPr txBox="1"/>
          <p:nvPr/>
        </p:nvSpPr>
        <p:spPr>
          <a:xfrm>
            <a:off x="7265570" y="6202144"/>
            <a:ext cx="2386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6. PHENOTYPE EVALUATION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EFEA7B-BB28-733F-F649-BAA631EDC61D}"/>
              </a:ext>
            </a:extLst>
          </p:cNvPr>
          <p:cNvSpPr txBox="1"/>
          <p:nvPr/>
        </p:nvSpPr>
        <p:spPr>
          <a:xfrm>
            <a:off x="1061562" y="2523712"/>
            <a:ext cx="1562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7 phases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1D800A8-E8E4-1466-D919-1659942BA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98329" cy="732155"/>
          </a:xfrm>
        </p:spPr>
        <p:txBody>
          <a:bodyPr/>
          <a:lstStyle/>
          <a:p>
            <a:r>
              <a:rPr lang="en-GB" dirty="0"/>
              <a:t>Phenotyping 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5A05D2-747F-34F1-8101-3399434ED569}"/>
              </a:ext>
            </a:extLst>
          </p:cNvPr>
          <p:cNvSpPr txBox="1"/>
          <p:nvPr/>
        </p:nvSpPr>
        <p:spPr>
          <a:xfrm>
            <a:off x="9490204" y="2484889"/>
            <a:ext cx="143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7. STORAGE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5CE355-B84F-EE6A-415C-96D18C6C65D6}"/>
              </a:ext>
            </a:extLst>
          </p:cNvPr>
          <p:cNvSpPr txBox="1"/>
          <p:nvPr/>
        </p:nvSpPr>
        <p:spPr>
          <a:xfrm>
            <a:off x="4653879" y="3851456"/>
            <a:ext cx="1679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BE"/>
            </a:defPPr>
            <a:lvl1pPr algn="ctr" defTabSz="914363">
              <a:defRPr b="1">
                <a:solidFill>
                  <a:schemeClr val="accent2"/>
                </a:solidFill>
                <a:latin typeface="FoundrySterling-Bold" panose="02000700000000000000" pitchFamily="2" charset="0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3. CLINICAL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A8FC1-1423-8B8D-F4C1-9367606B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4C9636-FA1E-E495-9D3D-F2472027888A}"/>
              </a:ext>
            </a:extLst>
          </p:cNvPr>
          <p:cNvSpPr/>
          <p:nvPr/>
        </p:nvSpPr>
        <p:spPr>
          <a:xfrm>
            <a:off x="5858864" y="4889229"/>
            <a:ext cx="2158368" cy="1350648"/>
          </a:xfrm>
          <a:prstGeom prst="roundRect">
            <a:avLst>
              <a:gd name="adj" fmla="val 8750"/>
            </a:avLst>
          </a:prstGeom>
          <a:noFill/>
          <a:ln w="762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313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BA3B6-0367-B557-C8FD-7A2160AA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7532-0F1F-F064-C159-3E161C98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</a:t>
            </a:r>
            <a:r>
              <a:rPr lang="en-US" dirty="0">
                <a:solidFill>
                  <a:schemeClr val="accent1"/>
                </a:solidFill>
              </a:rPr>
              <a:t>cohort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836F6-9BFA-7521-904D-78522D57E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27530"/>
            <a:ext cx="10515600" cy="4930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Cohort = </a:t>
            </a:r>
            <a:r>
              <a:rPr lang="en-US" dirty="0"/>
              <a:t>a set of persons who satisfy one or more inclusion criteria for a duration of time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Cohort era = </a:t>
            </a:r>
            <a:r>
              <a:rPr lang="en-US" dirty="0"/>
              <a:t>a continuous period during which a person has satisfied a cohort’s inclusion criteria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Cohort definition = </a:t>
            </a:r>
            <a:r>
              <a:rPr lang="en-US" dirty="0"/>
              <a:t>the specification for how to identify a cohort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B7599C-6298-812A-24D7-ED6CD3531ED4}"/>
              </a:ext>
            </a:extLst>
          </p:cNvPr>
          <p:cNvSpPr txBox="1">
            <a:spLocks/>
          </p:cNvSpPr>
          <p:nvPr/>
        </p:nvSpPr>
        <p:spPr>
          <a:xfrm>
            <a:off x="1981200" y="2932505"/>
            <a:ext cx="82296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20425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rgbClr val="20425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0425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rgbClr val="20425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rgbClr val="20425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35905BE-ED68-CD8F-AF35-AD8C6E9E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3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60B7AB9-15B3-342E-639E-7EA27105B2C8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EA91357-6396-B6D2-818F-2391193B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2354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B7B5-36A3-4837-8E72-ACD41690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cohort definition </a:t>
            </a:r>
            <a:r>
              <a:rPr lang="en-US" dirty="0">
                <a:solidFill>
                  <a:srgbClr val="0070C0"/>
                </a:solidFill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4D84-FF01-4278-9E4B-E5D252ABE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943"/>
            <a:ext cx="10515600" cy="4930470"/>
          </a:xfrm>
        </p:spPr>
        <p:txBody>
          <a:bodyPr>
            <a:normAutofit/>
          </a:bodyPr>
          <a:lstStyle/>
          <a:p>
            <a:r>
              <a:rPr lang="en-US" b="1" dirty="0"/>
              <a:t>Domain</a:t>
            </a:r>
            <a:r>
              <a:rPr lang="en-US" dirty="0"/>
              <a:t>: A Domain defines the set of allowable Concepts for the standardized fields in the CDM tables.</a:t>
            </a:r>
          </a:p>
          <a:p>
            <a:pPr lvl="1"/>
            <a:r>
              <a:rPr lang="en-US" dirty="0"/>
              <a:t>Ex:  Condition, Drug, Procedure, Measurement</a:t>
            </a:r>
          </a:p>
          <a:p>
            <a:r>
              <a:rPr lang="en-US" b="1" dirty="0"/>
              <a:t>Concept set: </a:t>
            </a:r>
            <a:r>
              <a:rPr lang="en-US" dirty="0"/>
              <a:t>An expression that defines one or more concepts encompassing a clinical entity of interest</a:t>
            </a:r>
          </a:p>
          <a:p>
            <a:pPr lvl="1"/>
            <a:r>
              <a:rPr lang="en-US" dirty="0"/>
              <a:t>Ex: Concepts for Type 2 Diabetes Mellitus (T2DM),  concepts for antidiabetic drugs, concepts for Hemoglobin A1C</a:t>
            </a:r>
          </a:p>
          <a:p>
            <a:r>
              <a:rPr lang="en-US" b="1" dirty="0"/>
              <a:t>Temporal logic:</a:t>
            </a:r>
            <a:r>
              <a:rPr lang="en-US" dirty="0"/>
              <a:t> the time intervals within which the relationship between an inclusion criteria and an event is evaluated</a:t>
            </a:r>
          </a:p>
          <a:p>
            <a:pPr lvl="1"/>
            <a:r>
              <a:rPr lang="en-US" dirty="0"/>
              <a:t>Ex: Indicated condition must occur during 365d prior to or on exposure start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F31BC-096D-842C-2697-6E24D14D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4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8E89E0-0662-F7CD-8F68-BA2066DBC73F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0CB5EE7-1349-26F8-90FC-69CD1AE2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38668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F2C2-3A83-41E1-8DA2-BB1E4C60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initial event(s) define </a:t>
            </a:r>
            <a:r>
              <a:rPr lang="en-US" dirty="0">
                <a:solidFill>
                  <a:srgbClr val="0070C0"/>
                </a:solidFill>
              </a:rPr>
              <a:t>cohort entry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AC797-78B6-499D-93FD-BFC5B160D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Do: </a:t>
            </a:r>
          </a:p>
          <a:p>
            <a:pPr lvl="1"/>
            <a:r>
              <a:rPr lang="en-US" dirty="0"/>
              <a:t>Define by existence of any observation in any domain </a:t>
            </a:r>
          </a:p>
          <a:p>
            <a:r>
              <a:rPr lang="en-US" dirty="0">
                <a:solidFill>
                  <a:srgbClr val="FF0000"/>
                </a:solidFill>
              </a:rPr>
              <a:t>Don’t: </a:t>
            </a:r>
          </a:p>
          <a:p>
            <a:pPr lvl="1"/>
            <a:r>
              <a:rPr lang="en-US" dirty="0"/>
              <a:t>Define by absence of an observation - when does absence occur?</a:t>
            </a:r>
          </a:p>
          <a:p>
            <a:pPr lvl="1"/>
            <a:r>
              <a:rPr lang="en-US" dirty="0"/>
              <a:t>Define by age - year of birth is constant, but requires index date to anchor age calculation</a:t>
            </a:r>
          </a:p>
          <a:p>
            <a:r>
              <a:rPr lang="en-US" dirty="0">
                <a:solidFill>
                  <a:schemeClr val="accent2"/>
                </a:solidFill>
              </a:rPr>
              <a:t>Caution:</a:t>
            </a:r>
          </a:p>
          <a:p>
            <a:pPr lvl="1"/>
            <a:r>
              <a:rPr lang="en-US" dirty="0"/>
              <a:t>Defining a cohort by calendar date can cause observation bias, since that date unlikely to be at point of health service utilization,  ex: cases matched to controls.  Consider instead defining by a visit that occurs within a calendar timeframe.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1444-4570-645B-E59D-979AD87D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5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E403FBE-E67E-78B2-1D45-A43DC7AC946D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3319F7E-5F27-435D-BD72-7CC1EC36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481344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F2C2-3A83-41E1-8DA2-BB1E4C60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</a:t>
            </a:r>
            <a:r>
              <a:rPr lang="en-US" dirty="0">
                <a:solidFill>
                  <a:srgbClr val="0070C0"/>
                </a:solidFill>
              </a:rPr>
              <a:t>inclusion criteria </a:t>
            </a:r>
            <a:r>
              <a:rPr lang="en-US" dirty="0"/>
              <a:t>are applied to the initial events?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AC797-78B6-499D-93FD-BFC5B160D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Do:  </a:t>
            </a:r>
          </a:p>
          <a:p>
            <a:pPr lvl="1"/>
            <a:r>
              <a:rPr lang="en-GB" dirty="0"/>
              <a:t>Clearly define inclusion and exclusion criteria, and document the logic used to combine them.</a:t>
            </a:r>
          </a:p>
          <a:p>
            <a:pPr lvl="1"/>
            <a:r>
              <a:rPr lang="en-US" dirty="0"/>
              <a:t>Use information on or before index event </a:t>
            </a:r>
            <a:br>
              <a:rPr lang="en-US" dirty="0"/>
            </a:br>
            <a:r>
              <a:rPr lang="en-US" dirty="0"/>
              <a:t>(think like a randomized trial: index event is study start, can’t predict future)</a:t>
            </a:r>
          </a:p>
          <a:p>
            <a:r>
              <a:rPr lang="en-US" dirty="0">
                <a:solidFill>
                  <a:srgbClr val="FF0000"/>
                </a:solidFill>
              </a:rPr>
              <a:t>Don’t: </a:t>
            </a:r>
          </a:p>
          <a:p>
            <a:pPr lvl="1"/>
            <a:r>
              <a:rPr lang="en-US" dirty="0"/>
              <a:t>Assume temporal logic, but always provide relative time window to evaluate criteria</a:t>
            </a:r>
          </a:p>
          <a:p>
            <a:r>
              <a:rPr lang="en-US" dirty="0">
                <a:solidFill>
                  <a:schemeClr val="accent2"/>
                </a:solidFill>
              </a:rPr>
              <a:t>Caution: </a:t>
            </a:r>
          </a:p>
          <a:p>
            <a:pPr lvl="1"/>
            <a:r>
              <a:rPr lang="en-US" dirty="0"/>
              <a:t>One person may have multiple initial events, criteria are applied to each event (not person)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EE99-D2A1-AE71-DDB7-53A1BEF9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6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8808EE7-EC2A-18CE-5505-0721FAE6ECB5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F538F31-756C-7CAD-5164-494E6E0D51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9459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F2C2-3A83-41E1-8DA2-BB1E4C60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defines a person’s </a:t>
            </a:r>
            <a:r>
              <a:rPr lang="en-US" dirty="0">
                <a:solidFill>
                  <a:srgbClr val="0070C0"/>
                </a:solidFill>
              </a:rPr>
              <a:t>cohort exit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AC797-78B6-499D-93FD-BFC5B160D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Do: </a:t>
            </a:r>
          </a:p>
          <a:p>
            <a:pPr lvl="1"/>
            <a:r>
              <a:rPr lang="en-US" dirty="0"/>
              <a:t>Specify a cohort exit, even if you are not intending to use it for your analytic use case</a:t>
            </a:r>
          </a:p>
          <a:p>
            <a:r>
              <a:rPr lang="en-US" dirty="0">
                <a:solidFill>
                  <a:srgbClr val="FF0000"/>
                </a:solidFill>
              </a:rPr>
              <a:t>Don’t:   </a:t>
            </a:r>
          </a:p>
          <a:p>
            <a:pPr lvl="1"/>
            <a:r>
              <a:rPr lang="en-US" dirty="0"/>
              <a:t>Confuse censoring for analytical purposes with cohort definition (which can be analysis-independent)…ex: censoring at time of outcome</a:t>
            </a:r>
          </a:p>
          <a:p>
            <a:r>
              <a:rPr lang="en-US" dirty="0">
                <a:solidFill>
                  <a:schemeClr val="accent2"/>
                </a:solidFill>
              </a:rPr>
              <a:t>Caution:  </a:t>
            </a:r>
          </a:p>
          <a:p>
            <a:pPr lvl="1"/>
            <a:r>
              <a:rPr lang="en-GB" dirty="0"/>
              <a:t>Time a person is in the cohort is not always the same as the time we use in the analysis. In some studies, we may only look at a short period after an exposure, while in others we may follow patients for their entire observation period.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FAA75-7C34-8469-347A-83B1604C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7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938D750-4BBB-62A3-B1EC-10079013B5EE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A521908-E169-D27C-A813-53DA8B6FD0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587317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03F66-1FCB-9420-BAC8-E7E7162B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89D5-075F-840B-69F0-EF7297EDE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Cohort definition: an example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1E85350-7F5B-70E8-E72B-1F84006F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8</a:t>
            </a:fld>
            <a:endParaRPr lang="en-GB"/>
          </a:p>
        </p:txBody>
      </p:sp>
      <p:pic>
        <p:nvPicPr>
          <p:cNvPr id="8" name="Picture 7" descr="PPT - Cardiomyopathies Andre Keren, MD PowerPoint Presentation, free ...">
            <a:extLst>
              <a:ext uri="{FF2B5EF4-FFF2-40B4-BE49-F238E27FC236}">
                <a16:creationId xmlns:a16="http://schemas.microsoft.com/office/drawing/2014/main" id="{73538DB4-5184-A1C9-2A5F-2C0A67B82C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2" r="10604"/>
          <a:stretch>
            <a:fillRect/>
          </a:stretch>
        </p:blipFill>
        <p:spPr bwMode="auto">
          <a:xfrm>
            <a:off x="160777" y="1250315"/>
            <a:ext cx="2361499" cy="21786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3D4D43-9940-EF53-9AB4-BD897CC7F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719" y="1578741"/>
            <a:ext cx="10917322" cy="4163691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598F39-177D-F5A8-5E01-9FD2C388A958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075E3F3-60E8-E8C9-FE4D-1FBCEF18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53104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3111-1F49-DF09-9310-18F677ADE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6B57-63A3-816D-BA83-53F7775B2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considerations when defining a cohort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A9040A-919F-D23A-1413-3BEF4F0D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9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3449690-FD86-FC7D-5B9B-85274208F121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9ADF5-3DBE-97FC-54E6-DB2302CA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26086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798A-D7F4-7649-B13E-14E7EB569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ED27-25D7-78C0-A489-978381A66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considerations when defining a cohort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C3A872-4F2F-B329-3962-9229BAC9BF8B}"/>
              </a:ext>
            </a:extLst>
          </p:cNvPr>
          <p:cNvSpPr txBox="1"/>
          <p:nvPr/>
        </p:nvSpPr>
        <p:spPr>
          <a:xfrm>
            <a:off x="859465" y="1462053"/>
            <a:ext cx="21231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Are we finding enough cases?</a:t>
            </a:r>
            <a:endParaRPr lang="en-GB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CB076-752B-7E81-554D-143DD0DD3BD9}"/>
              </a:ext>
            </a:extLst>
          </p:cNvPr>
          <p:cNvSpPr txBox="1"/>
          <p:nvPr/>
        </p:nvSpPr>
        <p:spPr>
          <a:xfrm>
            <a:off x="4811129" y="1462053"/>
            <a:ext cx="21231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Are they really cases?</a:t>
            </a:r>
            <a:endParaRPr lang="en-GB" sz="20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AA4B50-31B6-9D65-881A-8C9E635D2BEC}"/>
              </a:ext>
            </a:extLst>
          </p:cNvPr>
          <p:cNvSpPr/>
          <p:nvPr/>
        </p:nvSpPr>
        <p:spPr>
          <a:xfrm>
            <a:off x="636181" y="2307232"/>
            <a:ext cx="2698898" cy="12971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Sensitivity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5298B9-FF81-C3B4-A856-2216F4CBA980}"/>
              </a:ext>
            </a:extLst>
          </p:cNvPr>
          <p:cNvSpPr/>
          <p:nvPr/>
        </p:nvSpPr>
        <p:spPr>
          <a:xfrm>
            <a:off x="4523267" y="2307232"/>
            <a:ext cx="2698898" cy="12971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Specificity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A21223-03FC-393E-145F-E432F743D0D5}"/>
              </a:ext>
            </a:extLst>
          </p:cNvPr>
          <p:cNvSpPr txBox="1"/>
          <p:nvPr/>
        </p:nvSpPr>
        <p:spPr>
          <a:xfrm>
            <a:off x="533842" y="3780184"/>
            <a:ext cx="3326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Broad concept 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Multiple domains (conditions, drugs, procedures)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Reduces missed cases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8C7916-5672-6151-4E51-D436F7906BEC}"/>
              </a:ext>
            </a:extLst>
          </p:cNvPr>
          <p:cNvSpPr txBox="1"/>
          <p:nvPr/>
        </p:nvSpPr>
        <p:spPr>
          <a:xfrm>
            <a:off x="533842" y="5156293"/>
            <a:ext cx="3068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⚠️ </a:t>
            </a:r>
            <a:r>
              <a:rPr lang="en-GB" dirty="0">
                <a:solidFill>
                  <a:srgbClr val="FF0000"/>
                </a:solidFill>
              </a:rPr>
              <a:t>Too much sensitivity may include false positives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CEEB9D-654C-C1E8-9D09-E5676C1FA8A5}"/>
              </a:ext>
            </a:extLst>
          </p:cNvPr>
          <p:cNvSpPr txBox="1"/>
          <p:nvPr/>
        </p:nvSpPr>
        <p:spPr>
          <a:xfrm>
            <a:off x="4493583" y="3801450"/>
            <a:ext cx="3326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Restrictive concept 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Additional inclusion criteria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Higher confidence in case identification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AE8A76-26CC-0886-8F05-F075D513AAB0}"/>
              </a:ext>
            </a:extLst>
          </p:cNvPr>
          <p:cNvSpPr txBox="1"/>
          <p:nvPr/>
        </p:nvSpPr>
        <p:spPr>
          <a:xfrm>
            <a:off x="4493583" y="5156293"/>
            <a:ext cx="30688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⚠️ </a:t>
            </a:r>
            <a:r>
              <a:rPr lang="en-GB" dirty="0">
                <a:solidFill>
                  <a:srgbClr val="FF0000"/>
                </a:solidFill>
              </a:rPr>
              <a:t>Too much specificity may exclude true cases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D91FA5-DF8C-BA5C-4729-57F636CF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10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48E0D9D-AC24-F848-3437-CB694F1BB50E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1489A15-878C-1E7A-5100-6CBFC283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268768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82B79-87CF-F1C2-2FD3-3E2E21EBC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300D-1DED-9058-56FC-45D91735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considerations when defining a cohort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770FF8-885A-2BFC-4A6B-F0D69E1FF2F7}"/>
              </a:ext>
            </a:extLst>
          </p:cNvPr>
          <p:cNvSpPr txBox="1"/>
          <p:nvPr/>
        </p:nvSpPr>
        <p:spPr>
          <a:xfrm>
            <a:off x="859465" y="1462053"/>
            <a:ext cx="21231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Are we finding enough cases?</a:t>
            </a:r>
            <a:endParaRPr lang="en-GB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D489CD-6B8E-79AB-BAD8-E66EB1A0C5C0}"/>
              </a:ext>
            </a:extLst>
          </p:cNvPr>
          <p:cNvSpPr txBox="1"/>
          <p:nvPr/>
        </p:nvSpPr>
        <p:spPr>
          <a:xfrm>
            <a:off x="4811129" y="1462053"/>
            <a:ext cx="21231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Are they really cases?</a:t>
            </a:r>
            <a:endParaRPr lang="en-GB" sz="20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217653-6573-7A31-C7E8-23B1927868B0}"/>
              </a:ext>
            </a:extLst>
          </p:cNvPr>
          <p:cNvSpPr/>
          <p:nvPr/>
        </p:nvSpPr>
        <p:spPr>
          <a:xfrm>
            <a:off x="636181" y="2307232"/>
            <a:ext cx="2698898" cy="12971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Sensitivity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01715ED-D10B-0B2B-1AB7-E05F03C5CFA5}"/>
              </a:ext>
            </a:extLst>
          </p:cNvPr>
          <p:cNvSpPr/>
          <p:nvPr/>
        </p:nvSpPr>
        <p:spPr>
          <a:xfrm>
            <a:off x="4523267" y="2307232"/>
            <a:ext cx="2698898" cy="12971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Specificity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AFDE47-AEE4-F183-EE3B-324C78292350}"/>
              </a:ext>
            </a:extLst>
          </p:cNvPr>
          <p:cNvSpPr txBox="1"/>
          <p:nvPr/>
        </p:nvSpPr>
        <p:spPr>
          <a:xfrm>
            <a:off x="533842" y="3780184"/>
            <a:ext cx="3326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Broad concept 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Multiple domains (conditions, drugs, procedures)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Reduces missed cases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00266-45F5-D705-23DF-E389F943DE6C}"/>
              </a:ext>
            </a:extLst>
          </p:cNvPr>
          <p:cNvSpPr txBox="1"/>
          <p:nvPr/>
        </p:nvSpPr>
        <p:spPr>
          <a:xfrm>
            <a:off x="533842" y="5156293"/>
            <a:ext cx="3068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⚠️ </a:t>
            </a:r>
            <a:r>
              <a:rPr lang="en-GB" dirty="0">
                <a:solidFill>
                  <a:srgbClr val="FF0000"/>
                </a:solidFill>
              </a:rPr>
              <a:t>Too much sensitivity may include false positives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850AFF-49E1-2CBC-709B-BFB78C73853C}"/>
              </a:ext>
            </a:extLst>
          </p:cNvPr>
          <p:cNvSpPr txBox="1"/>
          <p:nvPr/>
        </p:nvSpPr>
        <p:spPr>
          <a:xfrm>
            <a:off x="4493583" y="3801450"/>
            <a:ext cx="3326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Restrictive concept 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Additional inclusion criteria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Higher confidence in case identification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B5A8C1-1F30-F6EF-2C8D-4A8729473638}"/>
              </a:ext>
            </a:extLst>
          </p:cNvPr>
          <p:cNvSpPr txBox="1"/>
          <p:nvPr/>
        </p:nvSpPr>
        <p:spPr>
          <a:xfrm>
            <a:off x="4493583" y="5156293"/>
            <a:ext cx="30688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⚠️ </a:t>
            </a:r>
            <a:r>
              <a:rPr lang="en-GB" dirty="0">
                <a:solidFill>
                  <a:srgbClr val="FF0000"/>
                </a:solidFill>
              </a:rPr>
              <a:t>Too much specificity may exclude true cases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7" name="Graphic 6" descr="Scales of justice outline">
            <a:extLst>
              <a:ext uri="{FF2B5EF4-FFF2-40B4-BE49-F238E27FC236}">
                <a16:creationId xmlns:a16="http://schemas.microsoft.com/office/drawing/2014/main" id="{CB691143-BB9E-4BB9-839C-EFA17E21D4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50167" y="2110186"/>
            <a:ext cx="1493432" cy="1493432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63688EC-6E79-DE4B-B5FE-FFC98FF4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11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8AB46C-0489-59B4-066C-BA8AA28678D5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A4D69BF-4864-3D51-5F22-695FC239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10653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46C2-68F0-6A89-58D8-5B1B3559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considerations when defining a cohort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7C5CD-BB25-FBE8-0E52-4C24C77917BF}"/>
              </a:ext>
            </a:extLst>
          </p:cNvPr>
          <p:cNvSpPr txBox="1"/>
          <p:nvPr/>
        </p:nvSpPr>
        <p:spPr>
          <a:xfrm>
            <a:off x="859465" y="1462053"/>
            <a:ext cx="21231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Are we finding enough cases?</a:t>
            </a:r>
            <a:endParaRPr lang="en-GB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3CBE85-CEF3-2248-74EE-DA354BC7A89B}"/>
              </a:ext>
            </a:extLst>
          </p:cNvPr>
          <p:cNvSpPr txBox="1"/>
          <p:nvPr/>
        </p:nvSpPr>
        <p:spPr>
          <a:xfrm>
            <a:off x="4811129" y="1462053"/>
            <a:ext cx="21231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Are they really cases?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23933E-5EEF-99AD-001A-E5764682701D}"/>
              </a:ext>
            </a:extLst>
          </p:cNvPr>
          <p:cNvSpPr txBox="1"/>
          <p:nvPr/>
        </p:nvSpPr>
        <p:spPr>
          <a:xfrm>
            <a:off x="8560981" y="1465030"/>
            <a:ext cx="26988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Are we identifying them at the right time?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820ECFB-CCAA-36F4-CCFA-BF0BA6109FF4}"/>
              </a:ext>
            </a:extLst>
          </p:cNvPr>
          <p:cNvSpPr/>
          <p:nvPr/>
        </p:nvSpPr>
        <p:spPr>
          <a:xfrm>
            <a:off x="636181" y="2307232"/>
            <a:ext cx="2698898" cy="12971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Sensitivity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581AD3-9C6D-0EA5-796A-813A66610A3E}"/>
              </a:ext>
            </a:extLst>
          </p:cNvPr>
          <p:cNvSpPr/>
          <p:nvPr/>
        </p:nvSpPr>
        <p:spPr>
          <a:xfrm>
            <a:off x="4523267" y="2307232"/>
            <a:ext cx="2698898" cy="12971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Specificity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17A58E-E07C-B5E8-7437-4EA8438BF382}"/>
              </a:ext>
            </a:extLst>
          </p:cNvPr>
          <p:cNvSpPr/>
          <p:nvPr/>
        </p:nvSpPr>
        <p:spPr>
          <a:xfrm>
            <a:off x="8560981" y="2307232"/>
            <a:ext cx="2698898" cy="12971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Index date definition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BDB7AB-4CDD-4623-9AA5-9AA3FC2BBC0A}"/>
              </a:ext>
            </a:extLst>
          </p:cNvPr>
          <p:cNvSpPr txBox="1"/>
          <p:nvPr/>
        </p:nvSpPr>
        <p:spPr>
          <a:xfrm>
            <a:off x="533842" y="3780184"/>
            <a:ext cx="3326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Broad concept 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Multiple domains (conditions, drugs, procedures)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Reduces missed cases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1D044D-2C54-AE21-C022-9AB0D8DE3B08}"/>
              </a:ext>
            </a:extLst>
          </p:cNvPr>
          <p:cNvSpPr txBox="1"/>
          <p:nvPr/>
        </p:nvSpPr>
        <p:spPr>
          <a:xfrm>
            <a:off x="533842" y="5156293"/>
            <a:ext cx="3068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⚠️ </a:t>
            </a:r>
            <a:r>
              <a:rPr lang="en-GB" dirty="0">
                <a:solidFill>
                  <a:srgbClr val="FF0000"/>
                </a:solidFill>
              </a:rPr>
              <a:t>Too much sensitivity may include false positives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97EA2A-8097-6CA8-EBC1-9ED360404F51}"/>
              </a:ext>
            </a:extLst>
          </p:cNvPr>
          <p:cNvSpPr txBox="1"/>
          <p:nvPr/>
        </p:nvSpPr>
        <p:spPr>
          <a:xfrm>
            <a:off x="4493583" y="3801450"/>
            <a:ext cx="3326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Restrictive concept 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Additional inclusion criteria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Higher confidence in case identification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CECF96-DF55-271D-2153-4B67DA9DD6F6}"/>
              </a:ext>
            </a:extLst>
          </p:cNvPr>
          <p:cNvSpPr txBox="1"/>
          <p:nvPr/>
        </p:nvSpPr>
        <p:spPr>
          <a:xfrm>
            <a:off x="4493583" y="5156293"/>
            <a:ext cx="30688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⚠️ </a:t>
            </a:r>
            <a:r>
              <a:rPr lang="en-GB" dirty="0">
                <a:solidFill>
                  <a:srgbClr val="FF0000"/>
                </a:solidFill>
              </a:rPr>
              <a:t>Too much specificity may exclude true cases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5856BA-C9C2-269E-0618-3FB128E0D567}"/>
              </a:ext>
            </a:extLst>
          </p:cNvPr>
          <p:cNvSpPr txBox="1"/>
          <p:nvPr/>
        </p:nvSpPr>
        <p:spPr>
          <a:xfrm>
            <a:off x="8756798" y="3780184"/>
            <a:ext cx="32154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Delayed diagnosis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Delayed coding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Treatment before diagnosis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Symptoms before diagnosis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AD0331-D315-2841-F389-8B882F27A951}"/>
              </a:ext>
            </a:extLst>
          </p:cNvPr>
          <p:cNvSpPr txBox="1"/>
          <p:nvPr/>
        </p:nvSpPr>
        <p:spPr>
          <a:xfrm>
            <a:off x="8560981" y="5156293"/>
            <a:ext cx="32154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⚠️ Misclassified index dates can bias follow-up and baseline assessments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258C50-9D0D-0CE8-B087-8CEC0DD4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12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7A23025-3343-10A2-0241-0AF6928A2707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D6CF66-7177-E1C9-8355-6DBA6418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472237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DDDF-3EE9-91F5-9388-A6BB5190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354A-FD2F-E293-6E46-CB7E349E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the right </a:t>
            </a:r>
            <a:r>
              <a:rPr lang="en-GB" dirty="0">
                <a:solidFill>
                  <a:schemeClr val="accent1"/>
                </a:solidFill>
              </a:rPr>
              <a:t>index 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04473-2D43-B558-0FFF-29EA7659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13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36F0B-ECC9-41BD-8558-D7E26C7F4129}"/>
              </a:ext>
            </a:extLst>
          </p:cNvPr>
          <p:cNvSpPr txBox="1"/>
          <p:nvPr/>
        </p:nvSpPr>
        <p:spPr>
          <a:xfrm>
            <a:off x="838200" y="1566584"/>
            <a:ext cx="6172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The index date determines:</a:t>
            </a:r>
          </a:p>
          <a:p>
            <a:pPr>
              <a:buNone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Who enters the cohort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Baseline covariates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Washout periods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Follow-up start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Outcome timing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01F977F-333E-F7BF-DAAF-EE157B715BDC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E5A089-E31E-6491-3EFD-EC2FF239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0759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6BC1-6B49-A144-02A3-275B36FF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EED2-F8C3-EC10-9F82-71B2E544E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the right </a:t>
            </a:r>
            <a:r>
              <a:rPr lang="en-GB" dirty="0">
                <a:solidFill>
                  <a:schemeClr val="accent1"/>
                </a:solidFill>
              </a:rPr>
              <a:t>index 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C02AA-C4C8-1EEA-1C98-53E0385DD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14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A8BC2-0595-A28B-1DE2-11B8A7F5A130}"/>
              </a:ext>
            </a:extLst>
          </p:cNvPr>
          <p:cNvSpPr txBox="1"/>
          <p:nvPr/>
        </p:nvSpPr>
        <p:spPr>
          <a:xfrm>
            <a:off x="838200" y="1566584"/>
            <a:ext cx="6172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The index date determines:</a:t>
            </a:r>
          </a:p>
          <a:p>
            <a:pPr>
              <a:buNone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Who enters the cohort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Baseline covariates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Washout periods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Follow-up start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Outcome timing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B0FA8-58EF-B935-2942-0F9C3819636C}"/>
              </a:ext>
            </a:extLst>
          </p:cNvPr>
          <p:cNvSpPr txBox="1"/>
          <p:nvPr/>
        </p:nvSpPr>
        <p:spPr>
          <a:xfrm>
            <a:off x="5414630" y="1663840"/>
            <a:ext cx="6172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True </a:t>
            </a:r>
            <a:r>
              <a:rPr lang="en-GB" b="1" u="sng" dirty="0"/>
              <a:t>Heart Failure </a:t>
            </a:r>
            <a:r>
              <a:rPr lang="en-GB" dirty="0"/>
              <a:t>Onset</a:t>
            </a:r>
          </a:p>
          <a:p>
            <a:r>
              <a:rPr lang="en-GB" dirty="0"/>
              <a:t>  ↓</a:t>
            </a:r>
          </a:p>
          <a:p>
            <a:endParaRPr lang="en-GB" dirty="0"/>
          </a:p>
          <a:p>
            <a:r>
              <a:rPr lang="en-GB" dirty="0">
                <a:solidFill>
                  <a:srgbClr val="FFC000"/>
                </a:solidFill>
              </a:rPr>
              <a:t>Symptoms  </a:t>
            </a:r>
            <a:r>
              <a:rPr lang="en-GB" dirty="0"/>
              <a:t>        </a:t>
            </a:r>
            <a:r>
              <a:rPr lang="en-GB" dirty="0">
                <a:solidFill>
                  <a:srgbClr val="00B050"/>
                </a:solidFill>
              </a:rPr>
              <a:t>Treatment started</a:t>
            </a:r>
            <a:r>
              <a:rPr lang="en-GB" dirty="0"/>
              <a:t>        </a:t>
            </a:r>
            <a:r>
              <a:rPr lang="en-GB" dirty="0">
                <a:solidFill>
                  <a:schemeClr val="accent1"/>
                </a:solidFill>
              </a:rPr>
              <a:t>Diagnosis recorded</a:t>
            </a:r>
          </a:p>
          <a:p>
            <a:r>
              <a:rPr lang="en-GB" dirty="0"/>
              <a:t>   </a:t>
            </a:r>
            <a:r>
              <a:rPr lang="en-GB" dirty="0">
                <a:solidFill>
                  <a:srgbClr val="FFC000"/>
                </a:solidFill>
              </a:rPr>
              <a:t>●</a:t>
            </a:r>
            <a:r>
              <a:rPr lang="en-GB" dirty="0"/>
              <a:t>------------------</a:t>
            </a:r>
            <a:r>
              <a:rPr lang="en-GB" dirty="0">
                <a:solidFill>
                  <a:srgbClr val="00B050"/>
                </a:solidFill>
              </a:rPr>
              <a:t>●</a:t>
            </a:r>
            <a:r>
              <a:rPr lang="en-GB" dirty="0"/>
              <a:t>--------------------------</a:t>
            </a:r>
            <a:r>
              <a:rPr lang="en-GB" dirty="0">
                <a:solidFill>
                  <a:schemeClr val="accent1"/>
                </a:solidFill>
              </a:rPr>
              <a:t>●</a:t>
            </a:r>
            <a:r>
              <a:rPr lang="en-GB" dirty="0"/>
              <a:t>-------------------------------…</a:t>
            </a:r>
          </a:p>
          <a:p>
            <a:r>
              <a:rPr lang="en-GB" dirty="0"/>
              <a:t> Jan                 March                               Sep</a:t>
            </a:r>
          </a:p>
          <a:p>
            <a:r>
              <a:rPr lang="en-GB" dirty="0"/>
              <a:t>                                                                 </a:t>
            </a:r>
            <a:endParaRPr lang="en-GB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2AC1F3-FA0C-2319-79F4-57A0FF41DD1A}"/>
              </a:ext>
            </a:extLst>
          </p:cNvPr>
          <p:cNvSpPr/>
          <p:nvPr/>
        </p:nvSpPr>
        <p:spPr>
          <a:xfrm>
            <a:off x="4922874" y="1566584"/>
            <a:ext cx="7155712" cy="326059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7536ABA-0E92-CB28-CA24-9DD352BFEDB6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3955100-3D84-5A5A-4831-A947890C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996135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E0F3E-4637-F16B-243A-7652E854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68DD-D56D-08F6-FA00-6A1C3D2C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the right </a:t>
            </a:r>
            <a:r>
              <a:rPr lang="en-GB" dirty="0">
                <a:solidFill>
                  <a:schemeClr val="accent1"/>
                </a:solidFill>
              </a:rPr>
              <a:t>index 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0AB-0DCA-1A97-BC4C-D458F0B2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15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E9B22C-5309-C8DB-6568-4D8290DDCDEB}"/>
              </a:ext>
            </a:extLst>
          </p:cNvPr>
          <p:cNvSpPr txBox="1"/>
          <p:nvPr/>
        </p:nvSpPr>
        <p:spPr>
          <a:xfrm>
            <a:off x="838200" y="1566584"/>
            <a:ext cx="6172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The index date determines:</a:t>
            </a:r>
          </a:p>
          <a:p>
            <a:pPr>
              <a:buNone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Who enters the cohort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Baseline covariates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Washout periods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Follow-up start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Outcome timing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6501A-6F85-CA3E-34EA-C8846D166E2A}"/>
              </a:ext>
            </a:extLst>
          </p:cNvPr>
          <p:cNvSpPr txBox="1"/>
          <p:nvPr/>
        </p:nvSpPr>
        <p:spPr>
          <a:xfrm>
            <a:off x="4922874" y="4958793"/>
            <a:ext cx="65044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⚠️ The first recorded diagnosis may not represent the true start of disease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93A3D4-4C4F-82CA-D809-9F62275B2AB4}"/>
              </a:ext>
            </a:extLst>
          </p:cNvPr>
          <p:cNvSpPr txBox="1"/>
          <p:nvPr/>
        </p:nvSpPr>
        <p:spPr>
          <a:xfrm>
            <a:off x="5414630" y="1663840"/>
            <a:ext cx="6172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True </a:t>
            </a:r>
            <a:r>
              <a:rPr lang="en-GB" b="1" u="sng" dirty="0"/>
              <a:t>Heart Failure </a:t>
            </a:r>
            <a:r>
              <a:rPr lang="en-GB" dirty="0"/>
              <a:t>Onset</a:t>
            </a:r>
          </a:p>
          <a:p>
            <a:r>
              <a:rPr lang="en-GB" dirty="0"/>
              <a:t>  ↓</a:t>
            </a:r>
          </a:p>
          <a:p>
            <a:endParaRPr lang="en-GB" dirty="0"/>
          </a:p>
          <a:p>
            <a:r>
              <a:rPr lang="en-GB" dirty="0">
                <a:solidFill>
                  <a:srgbClr val="FFC000"/>
                </a:solidFill>
              </a:rPr>
              <a:t>Symptoms  </a:t>
            </a:r>
            <a:r>
              <a:rPr lang="en-GB" dirty="0"/>
              <a:t>        </a:t>
            </a:r>
            <a:r>
              <a:rPr lang="en-GB" dirty="0">
                <a:solidFill>
                  <a:srgbClr val="00B050"/>
                </a:solidFill>
              </a:rPr>
              <a:t>Treatment started</a:t>
            </a:r>
            <a:r>
              <a:rPr lang="en-GB" dirty="0"/>
              <a:t>        </a:t>
            </a:r>
            <a:r>
              <a:rPr lang="en-GB" dirty="0">
                <a:solidFill>
                  <a:schemeClr val="accent1"/>
                </a:solidFill>
              </a:rPr>
              <a:t>Diagnosis recorded</a:t>
            </a:r>
          </a:p>
          <a:p>
            <a:r>
              <a:rPr lang="en-GB" dirty="0"/>
              <a:t>   </a:t>
            </a:r>
            <a:r>
              <a:rPr lang="en-GB" dirty="0">
                <a:solidFill>
                  <a:srgbClr val="FFC000"/>
                </a:solidFill>
              </a:rPr>
              <a:t>●</a:t>
            </a:r>
            <a:r>
              <a:rPr lang="en-GB" dirty="0"/>
              <a:t>------------------</a:t>
            </a:r>
            <a:r>
              <a:rPr lang="en-GB" dirty="0">
                <a:solidFill>
                  <a:srgbClr val="00B050"/>
                </a:solidFill>
              </a:rPr>
              <a:t>●</a:t>
            </a:r>
            <a:r>
              <a:rPr lang="en-GB" dirty="0"/>
              <a:t>--------------------------</a:t>
            </a:r>
            <a:r>
              <a:rPr lang="en-GB" dirty="0">
                <a:solidFill>
                  <a:schemeClr val="accent1"/>
                </a:solidFill>
              </a:rPr>
              <a:t>●</a:t>
            </a:r>
            <a:r>
              <a:rPr lang="en-GB" dirty="0"/>
              <a:t>-------------------------------…</a:t>
            </a:r>
          </a:p>
          <a:p>
            <a:r>
              <a:rPr lang="en-GB" dirty="0"/>
              <a:t> Jan                 March                               Sep</a:t>
            </a:r>
          </a:p>
          <a:p>
            <a:r>
              <a:rPr lang="en-GB" dirty="0"/>
              <a:t>                                                                  </a:t>
            </a:r>
            <a:r>
              <a:rPr lang="en-GB" b="1" dirty="0"/>
              <a:t>↑</a:t>
            </a:r>
          </a:p>
          <a:p>
            <a:r>
              <a:rPr lang="en-GB" b="1" dirty="0"/>
              <a:t>                                                          Index date</a:t>
            </a:r>
          </a:p>
          <a:p>
            <a:endParaRPr lang="en-GB" dirty="0"/>
          </a:p>
          <a:p>
            <a:r>
              <a:rPr lang="en-GB" dirty="0"/>
              <a:t>     </a:t>
            </a:r>
            <a:r>
              <a:rPr lang="en-GB" dirty="0">
                <a:solidFill>
                  <a:srgbClr val="FF0000"/>
                </a:solidFill>
              </a:rPr>
              <a:t>←------ Misclassified period--------→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F2DD-EE1D-9A94-94CC-C174E8C7C32E}"/>
              </a:ext>
            </a:extLst>
          </p:cNvPr>
          <p:cNvSpPr/>
          <p:nvPr/>
        </p:nvSpPr>
        <p:spPr>
          <a:xfrm>
            <a:off x="4922874" y="1566584"/>
            <a:ext cx="7155712" cy="326059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96D1F21-EF77-4ABF-90B0-81AFDAA39A62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7ABFFE-0E2E-E54A-4F51-A1AD59D2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195755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4626-FC96-79AF-D16A-69B3201A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date misclassification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E1CE118-433F-334D-9C8C-63CDFCF0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16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13BE7-0B0F-C3A1-F17B-B246C5080926}"/>
              </a:ext>
            </a:extLst>
          </p:cNvPr>
          <p:cNvSpPr txBox="1"/>
          <p:nvPr/>
        </p:nvSpPr>
        <p:spPr>
          <a:xfrm>
            <a:off x="1050851" y="1464657"/>
            <a:ext cx="53924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Common causes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Delayed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Delayed 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Treatment initiated before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Disease present before database entry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b="1" dirty="0"/>
              <a:t>Consequences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Incident cases classified as new when actually prevalent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Incorrect disease duration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Misclassified baseline covariates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Biased risk estimates</a:t>
            </a:r>
          </a:p>
          <a:p>
            <a:pPr>
              <a:buNone/>
            </a:pPr>
            <a:endParaRPr lang="en-GB" sz="240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CD2EE6-F049-C341-B18F-3E9A6AFDD210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9592761-DB4B-C7D6-474A-A01FF0AE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165585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52680-5DA7-EE41-5AA8-C97C7CC2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29B715-8789-BA33-CEDF-BEFE599DEBDE}"/>
              </a:ext>
            </a:extLst>
          </p:cNvPr>
          <p:cNvSpPr/>
          <p:nvPr/>
        </p:nvSpPr>
        <p:spPr>
          <a:xfrm>
            <a:off x="6570921" y="1669313"/>
            <a:ext cx="5469898" cy="3774558"/>
          </a:xfrm>
          <a:prstGeom prst="roundRect">
            <a:avLst>
              <a:gd name="adj" fmla="val 7576"/>
            </a:avLst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D2A3E-1374-7312-BE00-E18083DF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date misclassification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5030A1-8B20-1210-F43E-69EB3C1FD7C7}"/>
              </a:ext>
            </a:extLst>
          </p:cNvPr>
          <p:cNvSpPr txBox="1"/>
          <p:nvPr/>
        </p:nvSpPr>
        <p:spPr>
          <a:xfrm>
            <a:off x="1050851" y="1464657"/>
            <a:ext cx="53924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Common causes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Delayed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Delayed 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Treatment initiated before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Disease present before database entry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b="1" dirty="0"/>
              <a:t>Consequences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Incident cases classified as new when actually prevalent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Incorrect disease duration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Misclassified baseline covariates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Biased risk estimates</a:t>
            </a:r>
          </a:p>
          <a:p>
            <a:pPr>
              <a:buNone/>
            </a:pPr>
            <a:endParaRPr lang="en-GB" sz="24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C2FE05-C63E-B858-06DA-D795AA51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17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6ED7B-8E5F-D19B-3AE8-E91D0E5B4A27}"/>
              </a:ext>
            </a:extLst>
          </p:cNvPr>
          <p:cNvSpPr txBox="1"/>
          <p:nvPr/>
        </p:nvSpPr>
        <p:spPr>
          <a:xfrm>
            <a:off x="6949430" y="2554538"/>
            <a:ext cx="509138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Prior observation period → ≥365 days prior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Multiple domains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Alternative index definitions → diagnosis vs treatment initiation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Sensitivity analyses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Transparent reporting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409E65-3505-E75B-7B47-3B0AA584F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96"/>
          <a:stretch>
            <a:fillRect/>
          </a:stretch>
        </p:blipFill>
        <p:spPr>
          <a:xfrm>
            <a:off x="8940800" y="1644643"/>
            <a:ext cx="1041400" cy="885225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4E5D914-5417-2452-AF75-516B8F427C16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5BE7E00-BB93-96C8-17E2-FD5E992115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107205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3AC3-79C1-EBC0-80BA-65C0B7A9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index date would you choose?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68951-010E-E451-0B8A-E1A81317A63B}"/>
              </a:ext>
            </a:extLst>
          </p:cNvPr>
          <p:cNvSpPr txBox="1"/>
          <p:nvPr/>
        </p:nvSpPr>
        <p:spPr>
          <a:xfrm>
            <a:off x="920270" y="1464657"/>
            <a:ext cx="54698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Case study: Heart Failure</a:t>
            </a:r>
          </a:p>
          <a:p>
            <a:pPr>
              <a:buNone/>
            </a:pPr>
            <a:endParaRPr lang="en-GB" sz="2400" b="1" dirty="0"/>
          </a:p>
          <a:p>
            <a:pPr>
              <a:buNone/>
            </a:pPr>
            <a:r>
              <a:rPr lang="en-GB" sz="2400" b="1" dirty="0"/>
              <a:t>Question</a:t>
            </a:r>
          </a:p>
          <a:p>
            <a:pPr>
              <a:buNone/>
            </a:pPr>
            <a:endParaRPr lang="en-GB" sz="2400" b="1" dirty="0"/>
          </a:p>
          <a:p>
            <a:pPr>
              <a:buNone/>
            </a:pPr>
            <a:r>
              <a:rPr lang="en-GB" sz="2400" dirty="0"/>
              <a:t>For a study of heart failure prognosis, what should the index date be?</a:t>
            </a:r>
          </a:p>
          <a:p>
            <a:pPr>
              <a:buNone/>
            </a:pPr>
            <a:r>
              <a:rPr lang="en-GB" sz="2400" b="1" dirty="0"/>
              <a:t>A.</a:t>
            </a:r>
            <a:r>
              <a:rPr lang="en-GB" sz="2400" dirty="0"/>
              <a:t> First symptom (January)</a:t>
            </a:r>
          </a:p>
          <a:p>
            <a:pPr>
              <a:buNone/>
            </a:pPr>
            <a:r>
              <a:rPr lang="en-GB" sz="2400" b="1" dirty="0"/>
              <a:t>B.</a:t>
            </a:r>
            <a:r>
              <a:rPr lang="en-GB" sz="2400" dirty="0"/>
              <a:t> Treatment initiation (June)</a:t>
            </a:r>
          </a:p>
          <a:p>
            <a:pPr>
              <a:buNone/>
            </a:pPr>
            <a:r>
              <a:rPr lang="en-GB" sz="2400" b="1" dirty="0"/>
              <a:t>C.</a:t>
            </a:r>
            <a:r>
              <a:rPr lang="en-GB" sz="2400" dirty="0"/>
              <a:t> Diagnosis recorded date (September)</a:t>
            </a:r>
          </a:p>
          <a:p>
            <a:pPr>
              <a:buNone/>
            </a:pPr>
            <a:r>
              <a:rPr lang="en-GB" sz="2400" b="1" dirty="0"/>
              <a:t>D.</a:t>
            </a:r>
            <a:r>
              <a:rPr lang="en-GB" sz="2400" dirty="0"/>
              <a:t> Depends on the study question</a:t>
            </a:r>
          </a:p>
          <a:p>
            <a:pPr>
              <a:buNone/>
            </a:pPr>
            <a:br>
              <a:rPr lang="en-GB" sz="2400" dirty="0"/>
            </a:br>
            <a:endParaRPr lang="en-GB" sz="2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D2AB89C-A45E-3F72-E3C4-CD1F480B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18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E41117-1FA1-89DF-36DD-E0E6945F4ACC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8354D20-AD15-C68D-12A1-997A17C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130454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26DA-EBE4-71EA-2E0F-4A277540D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0E5C6B-F3A5-8B26-3449-9CFFDBC4EFF8}"/>
              </a:ext>
            </a:extLst>
          </p:cNvPr>
          <p:cNvSpPr/>
          <p:nvPr/>
        </p:nvSpPr>
        <p:spPr>
          <a:xfrm>
            <a:off x="6570921" y="1669312"/>
            <a:ext cx="5469898" cy="4093535"/>
          </a:xfrm>
          <a:prstGeom prst="roundRect">
            <a:avLst>
              <a:gd name="adj" fmla="val 7576"/>
            </a:avLst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3BABB-E506-864A-37D6-D4186860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index date would you choose?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1CA20-25C3-D160-E92A-55BC0B41C962}"/>
              </a:ext>
            </a:extLst>
          </p:cNvPr>
          <p:cNvSpPr txBox="1"/>
          <p:nvPr/>
        </p:nvSpPr>
        <p:spPr>
          <a:xfrm>
            <a:off x="920270" y="1464657"/>
            <a:ext cx="54698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Case study: Heart Failure</a:t>
            </a:r>
          </a:p>
          <a:p>
            <a:pPr>
              <a:buNone/>
            </a:pPr>
            <a:endParaRPr lang="en-GB" sz="2400" b="1" dirty="0"/>
          </a:p>
          <a:p>
            <a:pPr>
              <a:buNone/>
            </a:pPr>
            <a:r>
              <a:rPr lang="en-GB" sz="2400" b="1" dirty="0"/>
              <a:t>Question</a:t>
            </a:r>
          </a:p>
          <a:p>
            <a:pPr>
              <a:buNone/>
            </a:pPr>
            <a:endParaRPr lang="en-GB" sz="2400" b="1" dirty="0"/>
          </a:p>
          <a:p>
            <a:pPr>
              <a:buNone/>
            </a:pPr>
            <a:r>
              <a:rPr lang="en-GB" sz="2400" dirty="0"/>
              <a:t>For a study of heart failure prognosis, what should the index date be?</a:t>
            </a:r>
          </a:p>
          <a:p>
            <a:pPr>
              <a:buNone/>
            </a:pPr>
            <a:r>
              <a:rPr lang="en-GB" sz="2400" b="1" dirty="0"/>
              <a:t>A.</a:t>
            </a:r>
            <a:r>
              <a:rPr lang="en-GB" sz="2400" dirty="0"/>
              <a:t> First symptom (January)</a:t>
            </a:r>
          </a:p>
          <a:p>
            <a:pPr>
              <a:buNone/>
            </a:pPr>
            <a:r>
              <a:rPr lang="en-GB" sz="2400" b="1" dirty="0"/>
              <a:t>B.</a:t>
            </a:r>
            <a:r>
              <a:rPr lang="en-GB" sz="2400" dirty="0"/>
              <a:t> Treatment initiation (June)</a:t>
            </a:r>
          </a:p>
          <a:p>
            <a:pPr>
              <a:buNone/>
            </a:pPr>
            <a:r>
              <a:rPr lang="en-GB" sz="2400" b="1" dirty="0"/>
              <a:t>C.</a:t>
            </a:r>
            <a:r>
              <a:rPr lang="en-GB" sz="2400" dirty="0"/>
              <a:t> Diagnosis recorded date (September)</a:t>
            </a:r>
          </a:p>
          <a:p>
            <a:pPr>
              <a:buNone/>
            </a:pPr>
            <a:r>
              <a:rPr lang="en-GB" sz="2400" dirty="0">
                <a:solidFill>
                  <a:srgbClr val="00B050"/>
                </a:solidFill>
              </a:rPr>
              <a:t>D. Depends on the study question</a:t>
            </a:r>
          </a:p>
          <a:p>
            <a:pPr>
              <a:buNone/>
            </a:pPr>
            <a:br>
              <a:rPr lang="en-GB" sz="2400" dirty="0"/>
            </a:br>
            <a:endParaRPr lang="en-GB" sz="2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CB7CDB-D545-AB9B-A5E4-7357AF47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19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E3662-50E0-C658-6F2B-83C23AF8B410}"/>
              </a:ext>
            </a:extLst>
          </p:cNvPr>
          <p:cNvSpPr txBox="1"/>
          <p:nvPr/>
        </p:nvSpPr>
        <p:spPr>
          <a:xfrm>
            <a:off x="6997551" y="2007919"/>
            <a:ext cx="502023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Studying natural history of HF?</a:t>
            </a:r>
            <a:br>
              <a:rPr lang="en-GB" sz="2400" dirty="0"/>
            </a:br>
            <a:r>
              <a:rPr lang="en-GB" sz="2400" dirty="0"/>
              <a:t>→ Earliest evidence of disease (symptoms)</a:t>
            </a:r>
          </a:p>
          <a:p>
            <a:pPr>
              <a:buNone/>
            </a:pPr>
            <a:r>
              <a:rPr lang="en-GB" sz="2400" b="1" dirty="0"/>
              <a:t>Studying treatment effectiveness?</a:t>
            </a:r>
            <a:br>
              <a:rPr lang="en-GB" sz="2400" dirty="0"/>
            </a:br>
            <a:r>
              <a:rPr lang="en-GB" sz="2400" dirty="0"/>
              <a:t>→ Treatment initiation</a:t>
            </a:r>
          </a:p>
          <a:p>
            <a:pPr>
              <a:buNone/>
            </a:pPr>
            <a:r>
              <a:rPr lang="en-GB" sz="2400" b="1" dirty="0"/>
              <a:t>Studying diagnostic pathways?</a:t>
            </a:r>
            <a:br>
              <a:rPr lang="en-GB" sz="2400" dirty="0"/>
            </a:br>
            <a:r>
              <a:rPr lang="en-GB" sz="2400" dirty="0"/>
              <a:t>→ Diagnosis date</a:t>
            </a:r>
          </a:p>
          <a:p>
            <a:pPr>
              <a:buNone/>
            </a:pPr>
            <a:r>
              <a:rPr lang="en-GB" sz="2400" b="1" dirty="0"/>
              <a:t>Studying prognosis after diagnosis?</a:t>
            </a:r>
            <a:br>
              <a:rPr lang="en-GB" sz="2400" dirty="0"/>
            </a:br>
            <a:r>
              <a:rPr lang="en-GB" sz="2400" dirty="0"/>
              <a:t>→ Diagnosis date may be appropriate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568671D-1509-DC5F-31B4-6052E4242965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EF382C9-1C09-7107-112C-8FD3932D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71541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4C2F-36C4-02E7-D0BF-8EF05094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date: a design choice, not a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177D0-79CE-F3A8-2C50-869DD68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442"/>
            <a:ext cx="10515600" cy="4930470"/>
          </a:xfrm>
        </p:spPr>
        <p:txBody>
          <a:bodyPr>
            <a:normAutofit/>
          </a:bodyPr>
          <a:lstStyle/>
          <a:p>
            <a:r>
              <a:rPr lang="en-GB" sz="2400" dirty="0"/>
              <a:t>There is rarely a single "correct" index date.</a:t>
            </a:r>
          </a:p>
          <a:p>
            <a:r>
              <a:rPr lang="en-GB" sz="2400" dirty="0"/>
              <a:t>The most appropriate index date depends on the research question and study objective.</a:t>
            </a:r>
          </a:p>
          <a:p>
            <a:r>
              <a:rPr lang="en-GB" sz="2400" dirty="0"/>
              <a:t>Index date misclassification should be considered, evaluated, and transparently reported during phenotype and cohort development.</a:t>
            </a:r>
          </a:p>
          <a:p>
            <a:r>
              <a:rPr lang="en-GB" sz="2400" dirty="0"/>
              <a:t>In causal studies, thoughtful design choices (e.g., new-user designs, matching/adjustment, and sensitivity analyses) can help reduce bias arising from index date misclassification.</a:t>
            </a:r>
          </a:p>
          <a:p>
            <a:r>
              <a:rPr lang="en-GB" sz="2400" dirty="0"/>
              <a:t>Understanding the potential impact of index date misclassification is often more important than finding a perfect index date.</a:t>
            </a:r>
          </a:p>
          <a:p>
            <a:endParaRPr lang="en-GB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7D1A-1869-26A7-0457-2CD0A8E0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20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7E304F9-17C6-7700-BF64-669677EDF1AF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CA6404A-A19E-E64A-F33D-F8006A2E42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699458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723AE-5BB7-4707-3D40-AC24D07E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641C055-ECA9-0FC8-94AB-425EEB9B8B26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4192C6D-97BF-9A78-D4C7-22F4E6F9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2650-8E9A-6480-2A00-E818873AD580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5BFC678-B9F7-26C7-211F-52227554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51170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37681-2C68-943F-E3E4-C4E523BE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EE5F2FC-EDB4-7861-A5FB-EFB1F01AB9EA}"/>
              </a:ext>
            </a:extLst>
          </p:cNvPr>
          <p:cNvSpPr txBox="1"/>
          <p:nvPr/>
        </p:nvSpPr>
        <p:spPr>
          <a:xfrm>
            <a:off x="567855" y="1267616"/>
            <a:ext cx="64268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800" b="1" dirty="0">
                <a:latin typeface="FoundrySterling-BookOSF" panose="02000503000000020004" pitchFamily="2" charset="0"/>
              </a:rPr>
              <a:t>Tools:</a:t>
            </a:r>
          </a:p>
          <a:p>
            <a:pPr marL="0" indent="0">
              <a:buNone/>
            </a:pPr>
            <a:r>
              <a:rPr lang="en-GB" sz="2800" dirty="0">
                <a:latin typeface="FoundrySterling-BookOSF" panose="02000503000000020004" pitchFamily="2" charset="0"/>
              </a:rPr>
              <a:t>	- ATLAS</a:t>
            </a:r>
          </a:p>
          <a:p>
            <a:pPr marL="0" indent="0">
              <a:buNone/>
            </a:pPr>
            <a:r>
              <a:rPr lang="en-GB" sz="2800" dirty="0">
                <a:latin typeface="FoundrySterling-BookOSF" panose="02000503000000020004" pitchFamily="2" charset="0"/>
              </a:rPr>
              <a:t>	- </a:t>
            </a:r>
            <a:r>
              <a:rPr lang="en-GB" sz="2800" dirty="0" err="1">
                <a:latin typeface="FoundrySterling-BookOSF" panose="02000503000000020004" pitchFamily="2" charset="0"/>
              </a:rPr>
              <a:t>CohortConstructor</a:t>
            </a:r>
            <a:endParaRPr lang="en-GB" sz="2800" dirty="0">
              <a:latin typeface="FoundrySterling-BookOSF" panose="02000503000000020004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9667A2-F595-981A-5EC5-8D87A152F4F9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FE74F4-BF67-A0C9-CBE0-4B04F873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F69E3-5119-C62D-FC65-F1A7894AEA78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D14CBA3-D99F-7EE7-BDFB-53D628463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520861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84EE2DA-17B5-C5FA-EDE0-9AECC553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22-24 June 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AD0134D-7975-8AED-138B-F22C9BF1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198732D-1491-490B-E646-987C15AB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23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C8816-2972-5120-A01D-757D2A14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83" b="6498"/>
          <a:stretch>
            <a:fillRect/>
          </a:stretch>
        </p:blipFill>
        <p:spPr>
          <a:xfrm>
            <a:off x="567855" y="1151282"/>
            <a:ext cx="10841620" cy="570671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D309F95-8533-4EF1-39B9-9D34BC7F3508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B7B15-71DE-CBA0-4C16-80CD7B7B3DB4}"/>
              </a:ext>
            </a:extLst>
          </p:cNvPr>
          <p:cNvSpPr txBox="1"/>
          <p:nvPr/>
        </p:nvSpPr>
        <p:spPr>
          <a:xfrm>
            <a:off x="5488993" y="333944"/>
            <a:ext cx="14833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hlinkClick r:id="rId3"/>
              </a:rPr>
              <a:t>ATLAS</a:t>
            </a:r>
            <a:endParaRPr lang="en-GB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BCD2E8-24E6-3450-C122-4CEF5A1F76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76" t="10065" r="57409" b="89353"/>
          <a:stretch>
            <a:fillRect/>
          </a:stretch>
        </p:blipFill>
        <p:spPr>
          <a:xfrm>
            <a:off x="10732168" y="1225560"/>
            <a:ext cx="359902" cy="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66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1FB6AC1-4CA1-E004-3AC2-CDCE9E410D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57" b="6096"/>
          <a:stretch>
            <a:fillRect/>
          </a:stretch>
        </p:blipFill>
        <p:spPr>
          <a:xfrm>
            <a:off x="2988361" y="1573436"/>
            <a:ext cx="8855702" cy="5011632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596A775-F2C8-B093-CE5B-2F75464D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24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E87A07-A678-7BF0-ED3D-79D544EA1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25" y="2626606"/>
            <a:ext cx="1958966" cy="227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575627-38CC-2C17-47F3-97E2A4E1C0D5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F3CE95-B148-C1A1-EECF-24FC9BBD525B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3C545A1-04AD-BB7D-EF34-D2186BAE572B}"/>
              </a:ext>
            </a:extLst>
          </p:cNvPr>
          <p:cNvSpPr txBox="1"/>
          <p:nvPr/>
        </p:nvSpPr>
        <p:spPr>
          <a:xfrm>
            <a:off x="4238155" y="480534"/>
            <a:ext cx="5375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hlinkClick r:id="rId4"/>
              </a:rPr>
              <a:t>Package index • </a:t>
            </a:r>
            <a:r>
              <a:rPr lang="en-GB" sz="2800" dirty="0" err="1">
                <a:hlinkClick r:id="rId4"/>
              </a:rPr>
              <a:t>CohortConstructor</a:t>
            </a:r>
            <a:endParaRPr lang="en-GB" sz="2800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A543B11-D844-1C05-2DBE-5200D28A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557938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5A90A-D3FA-3AA7-4651-54CA8E08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3,081 Your Turn Stock Photos - Free &amp; Royalty-Free Stock Photos from ...">
            <a:extLst>
              <a:ext uri="{FF2B5EF4-FFF2-40B4-BE49-F238E27FC236}">
                <a16:creationId xmlns:a16="http://schemas.microsoft.com/office/drawing/2014/main" id="{06B15FFB-CCAD-EE41-F5E7-8FA3241F9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92"/>
          <a:stretch>
            <a:fillRect/>
          </a:stretch>
        </p:blipFill>
        <p:spPr bwMode="auto">
          <a:xfrm>
            <a:off x="1732866" y="1401547"/>
            <a:ext cx="8229600" cy="452596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32B082E-4B4A-6719-1286-599F41200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22643-4CE8-2533-58CA-D553706C0D39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29B9FE6-B519-376E-FC00-45434C32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283481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EB6C64-9BE5-CFBB-9865-0A2A21DB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/>
          </a:bodyPr>
          <a:lstStyle/>
          <a:p>
            <a:r>
              <a:rPr lang="en-GB" b="1" dirty="0"/>
              <a:t>Breakout Session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C41C8-8BCC-A9F8-0FE2-08809DF56F18}"/>
              </a:ext>
            </a:extLst>
          </p:cNvPr>
          <p:cNvSpPr txBox="1"/>
          <p:nvPr/>
        </p:nvSpPr>
        <p:spPr>
          <a:xfrm>
            <a:off x="567855" y="1353036"/>
            <a:ext cx="10325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800" b="1" dirty="0"/>
              <a:t>Design a cohort definition to answer the assigned research question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34B48F-B216-FA1F-54DE-05E4C34BD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4118" y="2356498"/>
            <a:ext cx="7863764" cy="36901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Define:</a:t>
            </a:r>
          </a:p>
          <a:p>
            <a:r>
              <a:rPr lang="en-GB" sz="2400" dirty="0"/>
              <a:t>Cohort entry (index date) </a:t>
            </a:r>
          </a:p>
          <a:p>
            <a:r>
              <a:rPr lang="en-GB" sz="2400" dirty="0"/>
              <a:t>Inclusion criteria </a:t>
            </a:r>
          </a:p>
          <a:p>
            <a:r>
              <a:rPr lang="en-GB" sz="2400" dirty="0"/>
              <a:t>Exclusion criteria </a:t>
            </a:r>
          </a:p>
          <a:p>
            <a:r>
              <a:rPr lang="en-GB" sz="2400" dirty="0"/>
              <a:t>Cohort exit </a:t>
            </a:r>
          </a:p>
          <a:p>
            <a:r>
              <a:rPr lang="en-GB" sz="2400" dirty="0"/>
              <a:t>Required code lists/concept sets </a:t>
            </a:r>
          </a:p>
          <a:p>
            <a:r>
              <a:rPr lang="en-GB" sz="2400" dirty="0"/>
              <a:t>Potential sources of misclassification (sensitivity, specificity, index date)</a:t>
            </a:r>
            <a:endParaRPr lang="en-GB" sz="2400" dirty="0">
              <a:latin typeface="FoundrySterling-BookOSF" panose="0200050300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2167E-FE96-7973-7E82-B4E3AA84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0D210D3-905D-4030-A2D7-E16ADAFF4081}" type="slidenum">
              <a:rPr lang="en-GB" smtClean="0"/>
              <a:t>26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632231D-3BA0-3DB3-61BD-69289DB4958D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F230B6A-9810-BBB8-12BB-9B3E816B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94585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4019-9882-0DA0-A7DB-3ACECDAE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E4C22-720A-F039-D11F-877EFBF7810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57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is long-term risk of stroke in patients with atrial fibrillation  and hypertension?</a:t>
            </a:r>
          </a:p>
          <a:p>
            <a:pPr marL="285750" indent="-285750"/>
            <a:r>
              <a:rPr lang="en-GB" dirty="0"/>
              <a:t>Among patients with hypertension, what is the 5-year risk of heart failure after initiating ACE inhibitors?</a:t>
            </a:r>
          </a:p>
          <a:p>
            <a:pPr marL="285750" indent="-285750"/>
            <a:r>
              <a:rPr lang="en-GB" dirty="0"/>
              <a:t>What is the risk of developing heart failure in patients with acute pericarditis?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is the 1-year mortality rate for patients diagnosed with myocardial infarction?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0784A-AFD1-79CE-55B8-4EB1A46EE079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E6E1D8C-2E81-0030-2A51-1E6541292487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766808A-7BBB-62B4-3004-B0DCE6B1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587938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sz="4400" b="1"/>
              <a:t>Q&amp;A</a:t>
            </a:r>
            <a:endParaRPr lang="en-GB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F035-6D9C-0A8A-076E-9BBF62F43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04093"/>
            <a:ext cx="10515600" cy="11786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Anna Saura-Lazaro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anna.sauralazaro@ndorms.ox.ac.uk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91441370-FA52-5371-F1A6-E79589CA5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456" y="1470025"/>
            <a:ext cx="4351338" cy="43513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4DFBA0-9A32-B9D7-CB6E-69AA1B9B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28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EB63D6A-08C6-9598-FBAF-806FFE7DC590}"/>
              </a:ext>
            </a:extLst>
          </p:cNvPr>
          <p:cNvSpPr txBox="1">
            <a:spLocks/>
          </p:cNvSpPr>
          <p:nvPr/>
        </p:nvSpPr>
        <p:spPr>
          <a:xfrm>
            <a:off x="3810000" y="6431033"/>
            <a:ext cx="4572000" cy="215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GB" sz="1200" b="0" i="0" u="none" strike="noStrike" kern="1200" smtClean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OHDSI UK: 4th Annual Meeting: Training Day – </a:t>
            </a:r>
            <a:r>
              <a:rPr lang="en-GB" b="1"/>
              <a:t>Clinical Phenotyping</a:t>
            </a:r>
            <a:endParaRPr lang="en-GB" b="1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D21D10E-7272-58AB-CD82-DD4F0673FC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116368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928C-F8DF-068F-78F0-2D9AEE2F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ridge quiz October 2022 is over. And the answer is… – Funbridge Blog">
            <a:extLst>
              <a:ext uri="{FF2B5EF4-FFF2-40B4-BE49-F238E27FC236}">
                <a16:creationId xmlns:a16="http://schemas.microsoft.com/office/drawing/2014/main" id="{4886AB96-19CC-01DA-BB0C-AEBD9C5FE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6C13-10D9-245A-2094-36BE27596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59" y="1065125"/>
            <a:ext cx="10058400" cy="4727749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sz="2600" b="1" dirty="0"/>
              <a:t>What’s the next step after finalising your code lists/concept sets?</a:t>
            </a:r>
            <a:endParaRPr lang="en-GB" sz="2600" dirty="0"/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solidFill>
                  <a:schemeClr val="bg1"/>
                </a:solidFill>
                <a:ea typeface="Calibri"/>
                <a:cs typeface="Calibri"/>
              </a:rPr>
              <a:t>A. Review cohort diagnostics to check if the concept sets perform as expected.</a:t>
            </a:r>
            <a:br>
              <a:rPr lang="en-GB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GB" dirty="0">
                <a:solidFill>
                  <a:schemeClr val="bg1"/>
                </a:solidFill>
                <a:ea typeface="Calibri"/>
                <a:cs typeface="Calibri"/>
              </a:rPr>
              <a:t> B. Stop here—concept sets are all you need.</a:t>
            </a:r>
            <a:br>
              <a:rPr lang="en-GB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GB" dirty="0">
                <a:solidFill>
                  <a:schemeClr val="bg1"/>
                </a:solidFill>
                <a:ea typeface="Calibri"/>
                <a:cs typeface="Calibri"/>
              </a:rPr>
              <a:t> C. Ask someone else to figure it out.</a:t>
            </a:r>
            <a:br>
              <a:rPr lang="en-GB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GB" dirty="0">
                <a:solidFill>
                  <a:schemeClr val="bg1"/>
                </a:solidFill>
                <a:ea typeface="Calibri"/>
                <a:cs typeface="Calibri"/>
              </a:rPr>
              <a:t> D. Define the cohort logic and build it using tools such as ATLAS or </a:t>
            </a:r>
            <a:r>
              <a:rPr lang="en-GB" err="1">
                <a:solidFill>
                  <a:schemeClr val="bg1"/>
                </a:solidFill>
                <a:ea typeface="Calibri"/>
                <a:cs typeface="Calibri"/>
              </a:rPr>
              <a:t>CohortConstructor</a:t>
            </a:r>
            <a:r>
              <a:rPr lang="en-GB" dirty="0">
                <a:solidFill>
                  <a:schemeClr val="bg1"/>
                </a:solidFill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1024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CA0A-F639-B262-DF2E-15E35255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ridge quiz October 2022 is over. And the answer is… – Funbridge Blog">
            <a:extLst>
              <a:ext uri="{FF2B5EF4-FFF2-40B4-BE49-F238E27FC236}">
                <a16:creationId xmlns:a16="http://schemas.microsoft.com/office/drawing/2014/main" id="{B8772FBD-3C66-2DEE-DC3B-34BE45B56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D713C-FEEB-1A79-4657-755AF1F94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59" y="1065125"/>
            <a:ext cx="10058400" cy="4727749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sz="2600" b="1" dirty="0"/>
              <a:t>What’s the next step after finalising your code lists/concept sets?</a:t>
            </a:r>
            <a:endParaRPr lang="en-GB" sz="2600" dirty="0"/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ea typeface="+mn-lt"/>
                <a:cs typeface="+mn-lt"/>
              </a:rPr>
              <a:t>A. Review cohort diagnostics to check if the concept sets perform as expected.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B. Stop here—concept sets are all you need.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C. Ask someone else to figure it out.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D. Define the cohort logic and build it using tools such as </a:t>
            </a:r>
            <a:r>
              <a:rPr lang="en-GB" dirty="0" err="1">
                <a:ea typeface="+mn-lt"/>
                <a:cs typeface="+mn-lt"/>
              </a:rPr>
              <a:t>CohortConstructor</a:t>
            </a:r>
            <a:r>
              <a:rPr lang="en-GB" dirty="0">
                <a:ea typeface="+mn-lt"/>
                <a:cs typeface="+mn-lt"/>
              </a:rPr>
              <a:t> or ATLAS.</a:t>
            </a:r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4697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2036</Words>
  <Application>Microsoft Office PowerPoint</Application>
  <PresentationFormat>Widescreen</PresentationFormat>
  <Paragraphs>350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FoundrySterling-BookOSF</vt:lpstr>
      <vt:lpstr>Office Theme</vt:lpstr>
      <vt:lpstr>Cohort definition and creation  </vt:lpstr>
      <vt:lpstr>Phenotyping process</vt:lpstr>
      <vt:lpstr>Phenotyping process</vt:lpstr>
      <vt:lpstr>Definition of cohort</vt:lpstr>
      <vt:lpstr>Defining cohort definition components</vt:lpstr>
      <vt:lpstr>What initial event(s) define cohort entry?</vt:lpstr>
      <vt:lpstr>What inclusion criteria are applied to the initial events?</vt:lpstr>
      <vt:lpstr>What defines a person’s cohort exit?</vt:lpstr>
      <vt:lpstr>Cohort definition: an example</vt:lpstr>
      <vt:lpstr>Key considerations when defining a cohort</vt:lpstr>
      <vt:lpstr>Key considerations when defining a cohort</vt:lpstr>
      <vt:lpstr>Key considerations when defining a cohort</vt:lpstr>
      <vt:lpstr>Key considerations when defining a cohort</vt:lpstr>
      <vt:lpstr>Choosing the right index date</vt:lpstr>
      <vt:lpstr>Choosing the right index date</vt:lpstr>
      <vt:lpstr>Choosing the right index date</vt:lpstr>
      <vt:lpstr>Index date misclassification</vt:lpstr>
      <vt:lpstr>Index date misclassification</vt:lpstr>
      <vt:lpstr>Which index date would you choose?</vt:lpstr>
      <vt:lpstr>Which index date would you choose?</vt:lpstr>
      <vt:lpstr>Index date: a design choice, not a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Breakout Session</vt:lpstr>
      <vt:lpstr>PowerPoint Presentation</vt:lpstr>
      <vt:lpstr>Q&amp;A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landscaping and Feasibility</dc:title>
  <dc:creator>Annika Jodicke</dc:creator>
  <cp:lastModifiedBy>Anna Saura Lazaro</cp:lastModifiedBy>
  <cp:revision>1</cp:revision>
  <dcterms:created xsi:type="dcterms:W3CDTF">2024-06-12T08:36:41Z</dcterms:created>
  <dcterms:modified xsi:type="dcterms:W3CDTF">2026-09-14T09:30:31Z</dcterms:modified>
</cp:coreProperties>
</file>