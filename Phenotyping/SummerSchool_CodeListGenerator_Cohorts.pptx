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62" r:id="rId4"/>
    <p:sldId id="281" r:id="rId5"/>
    <p:sldId id="931" r:id="rId6"/>
    <p:sldId id="932" r:id="rId7"/>
    <p:sldId id="275" r:id="rId8"/>
    <p:sldId id="276" r:id="rId9"/>
    <p:sldId id="266" r:id="rId10"/>
    <p:sldId id="943" r:id="rId11"/>
    <p:sldId id="945" r:id="rId12"/>
    <p:sldId id="946" r:id="rId13"/>
    <p:sldId id="947" r:id="rId14"/>
    <p:sldId id="944" r:id="rId15"/>
    <p:sldId id="950" r:id="rId16"/>
    <p:sldId id="974" r:id="rId17"/>
    <p:sldId id="267" r:id="rId18"/>
    <p:sldId id="952" r:id="rId19"/>
    <p:sldId id="975" r:id="rId20"/>
    <p:sldId id="976" r:id="rId21"/>
    <p:sldId id="977" r:id="rId22"/>
    <p:sldId id="978" r:id="rId23"/>
    <p:sldId id="979" r:id="rId24"/>
    <p:sldId id="980" r:id="rId25"/>
    <p:sldId id="981" r:id="rId26"/>
    <p:sldId id="982" r:id="rId27"/>
    <p:sldId id="983" r:id="rId28"/>
    <p:sldId id="9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B8DAC"/>
    <a:srgbClr val="1A55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68294-7544-43B2-8F33-1A7D86FD9B70}" v="1" dt="2026-06-19T16:23:37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 Prats Uribe" userId="524438a6-2adf-4725-abc0-3dede758fd98" providerId="ADAL" clId="{3EF31FFD-BA57-4500-A214-36C4F5FA2FE6}"/>
    <pc:docChg chg="addSld modSld">
      <pc:chgData name="Albert Prats Uribe" userId="524438a6-2adf-4725-abc0-3dede758fd98" providerId="ADAL" clId="{3EF31FFD-BA57-4500-A214-36C4F5FA2FE6}" dt="2026-06-19T16:23:37.316" v="0"/>
      <pc:docMkLst>
        <pc:docMk/>
      </pc:docMkLst>
      <pc:sldChg chg="add">
        <pc:chgData name="Albert Prats Uribe" userId="524438a6-2adf-4725-abc0-3dede758fd98" providerId="ADAL" clId="{3EF31FFD-BA57-4500-A214-36C4F5FA2FE6}" dt="2026-06-19T16:23:37.316" v="0"/>
        <pc:sldMkLst>
          <pc:docMk/>
          <pc:sldMk cId="3413169561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13B83-EF2F-4E44-9553-6915159000F6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E86C8-2229-476F-8542-BA2C8705963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73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13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607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823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95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032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29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117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18A92-E4E2-D46D-DFC5-56B75E524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F0901-FB87-F35F-370A-09E7EA1F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01589-C046-098E-4472-F960E794B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26E96-08B1-BDFA-340F-2213471B6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374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512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BA34-E235-D514-B713-7C977F58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8908E-74C6-A8A4-8BFE-7BBF58B90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CCF0F-F289-E91B-8D92-884776FC6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5CE3B-B78F-6B0B-E837-A06508C9B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871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736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3CA2-EACC-6DF8-BDB8-48EE5007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16CC6-0A6C-C798-1947-3E9B35A28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1577A-4543-2768-1BCB-AC67EC707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B50A4-0D4A-3F61-CAE0-9C71E239B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18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9E67-72A1-FECC-FC92-2E5219FE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93461-39A4-69FF-9214-56AFEF177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5F8C9-8091-481D-5945-FAF224D62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4277F-50FB-831D-DC19-17259BFD7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323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774B-6564-404F-35A1-0DD51D10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5730F-2AAE-954E-4CAF-62CD7A5FA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1B7E1-42E9-ABF0-2746-55C732804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8A47-0CC5-8FB3-49A2-696A444FA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894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00E8-79D4-A27B-7C87-C889116F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8147E-B206-7F09-9629-566A65594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335CE-D939-2FCF-332E-F343DEE7E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790F9-5960-31AB-0408-F597FC41E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924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69EF-E0C4-5BA6-9184-0BECF739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D0BB1-62DD-265C-0F82-16111B26D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DA765-811D-6858-5AEA-A74CC8B2B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D087-0385-6FD9-CFF7-0EB7D8D93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583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F37B-575F-4571-942A-18FC73DDF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7703D-01CF-49F4-B2E5-10106A1D3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8A7FA-5FE0-4741-97F6-4063E45A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64610-F3CF-426E-933E-FC2C4DE2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1AF31-D2B7-420D-9697-75F0491B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3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7BAB-B57C-441D-9CAE-71DA8CC3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E486-030A-4817-AB1B-DB32ECF1E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990C-CD34-4906-915A-731FE49A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A3BF-F729-481C-BDC1-21826FE2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0EE4A-72EA-4640-8FFC-7E98647D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5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F66E-D954-40F8-BE7C-BDF86E22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86DD7-1655-4D67-91F5-6F63E25F7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5950D-1A0E-4F77-9AF0-59A95120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9825-BEE9-4897-8240-A13C7509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3D59-BF76-437D-A470-CC0D5E87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2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C1A7-A326-42C2-8C9C-D5EED399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3394-7C77-429A-8C5F-C5825D165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43B40-DF80-4788-98FC-BB7DD90F8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031C-D466-401F-B034-D68CC131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4860D-36E3-4660-A9AF-DBF89497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C9C42-9C73-4F53-B3F4-271EA3E9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2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571B-FB0A-4E68-B2E3-5DD4035A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653BA-69DB-4038-8CC0-817FC874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0250C-6E2C-4DAF-B8DE-CF3A1B5D2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B3403-C7B9-413B-A680-1087DBAA3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C5B2E-F364-4024-8730-A0F6B9A95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9A2A4-9571-4FE9-8847-A4A03686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8A260-10E0-411C-B230-9D5B35BB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1382E-E26B-4581-A37E-F546E89B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1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2527-85AB-4163-8B63-86486F0C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EB747-1525-41A8-B8CA-3ED9D377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5B177-FF99-40EB-81B0-C5777BF1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DC663-A61B-48AB-A1CE-13CE5AB0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80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136DB-1537-4A24-B38D-A9C79DAB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5F4AE-BC45-4E73-8843-9CC0D8CA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1560-3D45-4B58-A521-73CA0F17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84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F238-B6D2-42EA-9CBE-277C990A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D90D-8439-4D5E-BFDB-1EC45A26C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ECE46-7AC4-4061-B5F6-F339ED5B5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D6A3-C87A-4F1B-A15C-F5F9334B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B1EFB-470F-4DCB-8026-04C3A0D3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D87A2-5B19-4D0C-BF79-ED58A1A5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81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3CA3-785D-4DBF-BB0E-437E5AD1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55ECD-6E32-4A5C-802A-9535AC91A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6856-41DA-419A-ABE5-FADEED441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2852-8AE1-498E-B285-AAD0A191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5B233-3F86-4B16-BA58-E3B9B2E4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4A458-CEAD-4242-B579-E96C7AF5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0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BF67-08A3-4A0C-98DF-7C974BB3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3CD55-9B95-49AB-B50C-0DA7EB03E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8855-2180-4C44-A600-CFBED5A6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36EB-7FFB-4DCD-9F02-C4CE3CE5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F7C60-AD56-4E96-B0B2-BA42BCDF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FBA06-819F-4518-A2E6-33E5D5D0A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E117D-AD28-49FE-A914-DE7F92495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E8B3C-EC0C-47A3-8DBC-7A00059D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66B6-5443-4FDC-9F60-81315CAB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1EB6F-D754-45CA-8EF7-55A344F1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0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AADF8-BCEC-41A7-85FE-E17B74A0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F635F-23FA-413E-BA96-6D6CEF7C9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FD78A-6950-479F-AA7C-0CCC905F5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F9A35-8FF0-42A2-A8FC-5DEB33831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CC59-0E4E-48CB-97F1-842534B93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28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tlas.ohdsi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ohdsi.github.io/CohortConstructor/reference/index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rect.ema.europa.eu/resource/100000043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cpjournals.org/doi/10.7326/M18-3079?url_ver=Z39.88-2003&amp;rfr_id=ori:rid:crossref.org&amp;rfr_dat=cr_pub%20%200pubmed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C3F26AB-2B15-43A3-A68C-3CAA11B62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7955" y="4683416"/>
            <a:ext cx="9144000" cy="1655762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Epidemiology Track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EB4E3E-7D63-43B9-960C-16289676C5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447" y="502326"/>
            <a:ext cx="3025931" cy="34958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58D3B1-BC84-4A80-8FC6-84A18B031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941" y="2606385"/>
            <a:ext cx="9560118" cy="2166214"/>
          </a:xfrm>
        </p:spPr>
        <p:txBody>
          <a:bodyPr>
            <a:normAutofit fontScale="90000"/>
          </a:bodyPr>
          <a:lstStyle/>
          <a:p>
            <a:br>
              <a:rPr lang="en-GB" sz="5400" b="1" dirty="0"/>
            </a:br>
            <a:r>
              <a:rPr lang="en-GB" sz="5400" b="1" dirty="0" err="1"/>
              <a:t>CodelistGenerator</a:t>
            </a:r>
            <a:br>
              <a:rPr lang="en-GB" sz="5400" b="1" dirty="0"/>
            </a:br>
            <a:r>
              <a:rPr lang="en-GB" sz="5400" b="1" dirty="0"/>
              <a:t>and </a:t>
            </a:r>
            <a:br>
              <a:rPr lang="en-GB" sz="5400" b="1" dirty="0"/>
            </a:br>
            <a:r>
              <a:rPr lang="en-GB" sz="5400" b="1" dirty="0"/>
              <a:t>Cohorts</a:t>
            </a:r>
          </a:p>
        </p:txBody>
      </p:sp>
    </p:spTree>
    <p:extLst>
      <p:ext uri="{BB962C8B-B14F-4D97-AF65-F5344CB8AC3E}">
        <p14:creationId xmlns:p14="http://schemas.microsoft.com/office/powerpoint/2010/main" val="304304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E94F9-7DA1-4E39-A43D-9F320ED72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855" y="1111556"/>
            <a:ext cx="11691878" cy="5458575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dirty="0"/>
              <a:t>13.30 – 11.15 	Phenotyping </a:t>
            </a:r>
            <a:r>
              <a:rPr lang="en-GB" sz="2400" dirty="0" err="1"/>
              <a:t>steb</a:t>
            </a:r>
            <a:r>
              <a:rPr lang="en-GB" sz="2400" dirty="0"/>
              <a:t> by step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11.15 – 12.15 	Clinical description and Phenotyping plan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12.15 – 13.00 	</a:t>
            </a:r>
            <a:r>
              <a:rPr lang="en-US" sz="2400" dirty="0" err="1"/>
              <a:t>Codelist</a:t>
            </a:r>
            <a:r>
              <a:rPr lang="en-US" sz="2400" dirty="0"/>
              <a:t> Generator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13.00 - 14.00 	Lunch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GB" sz="2400" i="1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GB" sz="2400" i="1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14.00 – 14.15 	</a:t>
            </a:r>
            <a:r>
              <a:rPr lang="en-US" sz="2400" dirty="0" err="1"/>
              <a:t>Codelist</a:t>
            </a:r>
            <a:r>
              <a:rPr lang="en-US" sz="2400" dirty="0"/>
              <a:t> generation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14.15 – 15.15  Creating cohorts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15.15 –16.30  </a:t>
            </a:r>
            <a:r>
              <a:rPr lang="en-US" sz="2400" dirty="0" err="1"/>
              <a:t>PhenotypeR</a:t>
            </a:r>
            <a:endParaRPr lang="en-GB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08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/>
              <a:t>Phenotyping reminder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co: Remember Me - From Script to Screen">
            <a:extLst>
              <a:ext uri="{FF2B5EF4-FFF2-40B4-BE49-F238E27FC236}">
                <a16:creationId xmlns:a16="http://schemas.microsoft.com/office/drawing/2014/main" id="{B8C2548E-5A57-D13A-72A4-BEF084FC8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93"/>
          <a:stretch/>
        </p:blipFill>
        <p:spPr bwMode="auto">
          <a:xfrm>
            <a:off x="1015999" y="1292199"/>
            <a:ext cx="10295467" cy="459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93B21E-9C01-E2C4-D85F-F199A0EB5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562" y="324128"/>
            <a:ext cx="619210" cy="6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6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01A6AE8-DAEC-A1E7-8B80-5D4C4D347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199" y="427015"/>
            <a:ext cx="7823201" cy="57865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AFE73-C206-506E-81C8-252A25470B76}"/>
              </a:ext>
            </a:extLst>
          </p:cNvPr>
          <p:cNvSpPr txBox="1"/>
          <p:nvPr/>
        </p:nvSpPr>
        <p:spPr>
          <a:xfrm>
            <a:off x="3413977" y="359462"/>
            <a:ext cx="185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0C0"/>
                </a:solidFill>
                <a:latin typeface="FoundrySterling-Bold" panose="020007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1. PROPOSAL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62CAA-7A68-8935-1628-EBCFDACED97B}"/>
              </a:ext>
            </a:extLst>
          </p:cNvPr>
          <p:cNvSpPr txBox="1"/>
          <p:nvPr/>
        </p:nvSpPr>
        <p:spPr>
          <a:xfrm>
            <a:off x="2550803" y="1833556"/>
            <a:ext cx="1851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2. COHORT EXISTS?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85709-0E2C-A3DF-7165-39B63FF075AA}"/>
              </a:ext>
            </a:extLst>
          </p:cNvPr>
          <p:cNvSpPr txBox="1"/>
          <p:nvPr/>
        </p:nvSpPr>
        <p:spPr>
          <a:xfrm>
            <a:off x="2273358" y="5837180"/>
            <a:ext cx="1851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3. CODELIST GENERATION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5BC71C-5304-89B9-B717-040DBBF593C4}"/>
              </a:ext>
            </a:extLst>
          </p:cNvPr>
          <p:cNvSpPr txBox="1"/>
          <p:nvPr/>
        </p:nvSpPr>
        <p:spPr>
          <a:xfrm>
            <a:off x="5259753" y="5871005"/>
            <a:ext cx="1851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4. COHORT GENERATION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ángulo 3">
            <a:extLst>
              <a:ext uri="{FF2B5EF4-FFF2-40B4-BE49-F238E27FC236}">
                <a16:creationId xmlns:a16="http://schemas.microsoft.com/office/drawing/2014/main" id="{C84EB755-F85E-2D52-3657-141377D35BC7}"/>
              </a:ext>
            </a:extLst>
          </p:cNvPr>
          <p:cNvSpPr/>
          <p:nvPr/>
        </p:nvSpPr>
        <p:spPr>
          <a:xfrm>
            <a:off x="6477793" y="4181210"/>
            <a:ext cx="688294" cy="242166"/>
          </a:xfrm>
          <a:custGeom>
            <a:avLst/>
            <a:gdLst>
              <a:gd name="connsiteX0" fmla="*/ 0 w 687806"/>
              <a:gd name="connsiteY0" fmla="*/ 0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0 w 687806"/>
              <a:gd name="connsiteY4" fmla="*/ 0 h 270711"/>
              <a:gd name="connsiteX0" fmla="*/ 16669 w 687806"/>
              <a:gd name="connsiteY0" fmla="*/ 23812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16669 w 687806"/>
              <a:gd name="connsiteY4" fmla="*/ 23812 h 270711"/>
              <a:gd name="connsiteX0" fmla="*/ 16669 w 687806"/>
              <a:gd name="connsiteY0" fmla="*/ 0 h 246899"/>
              <a:gd name="connsiteX1" fmla="*/ 611606 w 687806"/>
              <a:gd name="connsiteY1" fmla="*/ 9526 h 246899"/>
              <a:gd name="connsiteX2" fmla="*/ 687806 w 687806"/>
              <a:gd name="connsiteY2" fmla="*/ 246899 h 246899"/>
              <a:gd name="connsiteX3" fmla="*/ 0 w 687806"/>
              <a:gd name="connsiteY3" fmla="*/ 246899 h 246899"/>
              <a:gd name="connsiteX4" fmla="*/ 16669 w 687806"/>
              <a:gd name="connsiteY4" fmla="*/ 0 h 246899"/>
              <a:gd name="connsiteX0" fmla="*/ 16669 w 611606"/>
              <a:gd name="connsiteY0" fmla="*/ 0 h 249280"/>
              <a:gd name="connsiteX1" fmla="*/ 611606 w 611606"/>
              <a:gd name="connsiteY1" fmla="*/ 9526 h 249280"/>
              <a:gd name="connsiteX2" fmla="*/ 523500 w 611606"/>
              <a:gd name="connsiteY2" fmla="*/ 249280 h 249280"/>
              <a:gd name="connsiteX3" fmla="*/ 0 w 611606"/>
              <a:gd name="connsiteY3" fmla="*/ 246899 h 249280"/>
              <a:gd name="connsiteX4" fmla="*/ 16669 w 611606"/>
              <a:gd name="connsiteY4" fmla="*/ 0 h 249280"/>
              <a:gd name="connsiteX0" fmla="*/ 0 w 594937"/>
              <a:gd name="connsiteY0" fmla="*/ 0 h 249280"/>
              <a:gd name="connsiteX1" fmla="*/ 594937 w 594937"/>
              <a:gd name="connsiteY1" fmla="*/ 9526 h 249280"/>
              <a:gd name="connsiteX2" fmla="*/ 506831 w 594937"/>
              <a:gd name="connsiteY2" fmla="*/ 249280 h 249280"/>
              <a:gd name="connsiteX3" fmla="*/ 69056 w 594937"/>
              <a:gd name="connsiteY3" fmla="*/ 239755 h 249280"/>
              <a:gd name="connsiteX4" fmla="*/ 0 w 594937"/>
              <a:gd name="connsiteY4" fmla="*/ 0 h 249280"/>
              <a:gd name="connsiteX0" fmla="*/ 0 w 566362"/>
              <a:gd name="connsiteY0" fmla="*/ 0 h 282617"/>
              <a:gd name="connsiteX1" fmla="*/ 566362 w 566362"/>
              <a:gd name="connsiteY1" fmla="*/ 42863 h 282617"/>
              <a:gd name="connsiteX2" fmla="*/ 478256 w 566362"/>
              <a:gd name="connsiteY2" fmla="*/ 282617 h 282617"/>
              <a:gd name="connsiteX3" fmla="*/ 40481 w 566362"/>
              <a:gd name="connsiteY3" fmla="*/ 273092 h 282617"/>
              <a:gd name="connsiteX4" fmla="*/ 0 w 566362"/>
              <a:gd name="connsiteY4" fmla="*/ 0 h 282617"/>
              <a:gd name="connsiteX0" fmla="*/ 0 w 525881"/>
              <a:gd name="connsiteY0" fmla="*/ 0 h 282617"/>
              <a:gd name="connsiteX1" fmla="*/ 525881 w 525881"/>
              <a:gd name="connsiteY1" fmla="*/ 7144 h 282617"/>
              <a:gd name="connsiteX2" fmla="*/ 478256 w 525881"/>
              <a:gd name="connsiteY2" fmla="*/ 282617 h 282617"/>
              <a:gd name="connsiteX3" fmla="*/ 40481 w 525881"/>
              <a:gd name="connsiteY3" fmla="*/ 273092 h 282617"/>
              <a:gd name="connsiteX4" fmla="*/ 0 w 525881"/>
              <a:gd name="connsiteY4" fmla="*/ 0 h 282617"/>
              <a:gd name="connsiteX0" fmla="*/ 0 w 593094"/>
              <a:gd name="connsiteY0" fmla="*/ 0 h 282617"/>
              <a:gd name="connsiteX1" fmla="*/ 525881 w 593094"/>
              <a:gd name="connsiteY1" fmla="*/ 7144 h 282617"/>
              <a:gd name="connsiteX2" fmla="*/ 592556 w 593094"/>
              <a:gd name="connsiteY2" fmla="*/ 152400 h 282617"/>
              <a:gd name="connsiteX3" fmla="*/ 478256 w 593094"/>
              <a:gd name="connsiteY3" fmla="*/ 282617 h 282617"/>
              <a:gd name="connsiteX4" fmla="*/ 40481 w 593094"/>
              <a:gd name="connsiteY4" fmla="*/ 273092 h 282617"/>
              <a:gd name="connsiteX5" fmla="*/ 0 w 593094"/>
              <a:gd name="connsiteY5" fmla="*/ 0 h 282617"/>
              <a:gd name="connsiteX0" fmla="*/ 109914 w 703008"/>
              <a:gd name="connsiteY0" fmla="*/ 0 h 282617"/>
              <a:gd name="connsiteX1" fmla="*/ 635795 w 703008"/>
              <a:gd name="connsiteY1" fmla="*/ 7144 h 282617"/>
              <a:gd name="connsiteX2" fmla="*/ 702470 w 703008"/>
              <a:gd name="connsiteY2" fmla="*/ 152400 h 282617"/>
              <a:gd name="connsiteX3" fmla="*/ 588170 w 703008"/>
              <a:gd name="connsiteY3" fmla="*/ 282617 h 282617"/>
              <a:gd name="connsiteX4" fmla="*/ 150395 w 703008"/>
              <a:gd name="connsiteY4" fmla="*/ 273092 h 282617"/>
              <a:gd name="connsiteX5" fmla="*/ 0 w 703008"/>
              <a:gd name="connsiteY5" fmla="*/ 135731 h 282617"/>
              <a:gd name="connsiteX6" fmla="*/ 109914 w 703008"/>
              <a:gd name="connsiteY6" fmla="*/ 0 h 28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3008" h="282617">
                <a:moveTo>
                  <a:pt x="109914" y="0"/>
                </a:moveTo>
                <a:lnTo>
                  <a:pt x="635795" y="7144"/>
                </a:lnTo>
                <a:cubicBezTo>
                  <a:pt x="627857" y="55563"/>
                  <a:pt x="710408" y="103981"/>
                  <a:pt x="702470" y="152400"/>
                </a:cubicBezTo>
                <a:lnTo>
                  <a:pt x="588170" y="282617"/>
                </a:lnTo>
                <a:lnTo>
                  <a:pt x="150395" y="273092"/>
                </a:lnTo>
                <a:cubicBezTo>
                  <a:pt x="142332" y="229686"/>
                  <a:pt x="8063" y="179137"/>
                  <a:pt x="0" y="135731"/>
                </a:cubicBezTo>
                <a:lnTo>
                  <a:pt x="1099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misclassification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504C1-E6FD-B69C-E5D4-B3AD2C289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0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>
                <a:latin typeface="FoundrySterling-Bold" panose="02000700000000000000" pitchFamily="2" charset="0"/>
              </a:rPr>
              <a:t>3. New phenotype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3.1 – </a:t>
            </a:r>
            <a:r>
              <a:rPr lang="en-GB" err="1">
                <a:latin typeface="FoundrySterling-BookOSF" panose="02000503000000020004" pitchFamily="2" charset="0"/>
              </a:rPr>
              <a:t>Codelist</a:t>
            </a:r>
            <a:r>
              <a:rPr lang="en-GB">
                <a:latin typeface="FoundrySterling-BookOSF" panose="02000503000000020004" pitchFamily="2" charset="0"/>
              </a:rPr>
              <a:t> generation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3.2 – </a:t>
            </a:r>
            <a:r>
              <a:rPr lang="en-GB" err="1">
                <a:latin typeface="FoundrySterling-BookOSF" panose="02000503000000020004" pitchFamily="2" charset="0"/>
              </a:rPr>
              <a:t>Codelist</a:t>
            </a:r>
            <a:r>
              <a:rPr lang="en-GB">
                <a:latin typeface="FoundrySterling-BookOSF" panose="02000503000000020004" pitchFamily="2" charset="0"/>
              </a:rPr>
              <a:t> refinement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3.3 – Cohorts generation </a:t>
            </a:r>
          </a:p>
        </p:txBody>
      </p:sp>
    </p:spTree>
    <p:extLst>
      <p:ext uri="{BB962C8B-B14F-4D97-AF65-F5344CB8AC3E}">
        <p14:creationId xmlns:p14="http://schemas.microsoft.com/office/powerpoint/2010/main" val="374432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GB">
                <a:latin typeface="FoundrySterling-Bold" panose="02000700000000000000" pitchFamily="2" charset="0"/>
              </a:rPr>
              <a:t>3.1 </a:t>
            </a:r>
            <a:r>
              <a:rPr lang="en-GB" err="1">
                <a:latin typeface="FoundrySterling-Bold" panose="02000700000000000000" pitchFamily="2" charset="0"/>
              </a:rPr>
              <a:t>Codelist</a:t>
            </a:r>
            <a:r>
              <a:rPr lang="en-GB">
                <a:latin typeface="FoundrySterling-Bold" panose="02000700000000000000" pitchFamily="2" charset="0"/>
              </a:rPr>
              <a:t>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Generate a first </a:t>
            </a:r>
            <a:r>
              <a:rPr lang="en-GB" err="1">
                <a:latin typeface="FoundrySterling-BookOSF" panose="02000503000000020004" pitchFamily="2" charset="0"/>
              </a:rPr>
              <a:t>codelist</a:t>
            </a:r>
            <a:r>
              <a:rPr lang="en-GB">
                <a:latin typeface="FoundrySterling-BookOSF" panose="02000503000000020004" pitchFamily="2" charset="0"/>
              </a:rPr>
              <a:t> (systematic way if possible)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That works with all the vocabularies potentially involved </a:t>
            </a:r>
          </a:p>
          <a:p>
            <a:pPr marL="0" indent="0">
              <a:buNone/>
            </a:pPr>
            <a:endParaRPr lang="en-GB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Tools:</a:t>
            </a:r>
          </a:p>
          <a:p>
            <a:pPr>
              <a:buFontTx/>
              <a:buChar char="-"/>
            </a:pPr>
            <a:r>
              <a:rPr lang="en-GB" err="1">
                <a:latin typeface="FoundrySterling-BookOSF" panose="02000503000000020004" pitchFamily="2" charset="0"/>
              </a:rPr>
              <a:t>Codelist</a:t>
            </a:r>
            <a:r>
              <a:rPr lang="en-GB">
                <a:latin typeface="FoundrySterling-BookOSF" panose="02000503000000020004" pitchFamily="2" charset="0"/>
              </a:rPr>
              <a:t> generator</a:t>
            </a:r>
          </a:p>
        </p:txBody>
      </p:sp>
      <p:pic>
        <p:nvPicPr>
          <p:cNvPr id="4" name="Picture 3" descr="A hexagon with a calculator and numbers&#10;&#10;Description automatically generated">
            <a:extLst>
              <a:ext uri="{FF2B5EF4-FFF2-40B4-BE49-F238E27FC236}">
                <a16:creationId xmlns:a16="http://schemas.microsoft.com/office/drawing/2014/main" id="{8D2DDE51-B47C-14BF-5E6A-2EA7C76F8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290" y="3577685"/>
            <a:ext cx="1561420" cy="180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2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4F690A3-331E-7527-AEF8-AC59F33DCC1D}"/>
              </a:ext>
            </a:extLst>
          </p:cNvPr>
          <p:cNvSpPr txBox="1"/>
          <p:nvPr/>
        </p:nvSpPr>
        <p:spPr>
          <a:xfrm>
            <a:off x="500185" y="35264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Codelist</a:t>
            </a: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 generator</a:t>
            </a: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51C3D96-DAD2-4EBC-36C2-D80E2F8A7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31CC20AB-2752-6A64-C237-044A627432F7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CE245413-8371-FAB2-C96D-BC73B6DCA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8645"/>
            <a:ext cx="12192000" cy="290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7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B52629-3562-7D2F-2B02-A3A5A9AEA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02"/>
            <a:ext cx="12192000" cy="650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6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53"/>
            <a:ext cx="10515600" cy="955675"/>
          </a:xfrm>
        </p:spPr>
        <p:txBody>
          <a:bodyPr/>
          <a:lstStyle/>
          <a:p>
            <a:r>
              <a:rPr lang="en-GB">
                <a:latin typeface="FoundrySterling-Bold" panose="02000700000000000000" pitchFamily="2" charset="0"/>
              </a:rPr>
              <a:t>3.2 </a:t>
            </a:r>
            <a:r>
              <a:rPr lang="en-GB" err="1">
                <a:latin typeface="FoundrySterling-Bold" panose="02000700000000000000" pitchFamily="2" charset="0"/>
              </a:rPr>
              <a:t>Codelist</a:t>
            </a:r>
            <a:r>
              <a:rPr lang="en-GB">
                <a:latin typeface="FoundrySterling-Bold" panose="02000700000000000000" pitchFamily="2" charset="0"/>
              </a:rPr>
              <a:t>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50721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Clinical review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Two independent reviewers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Third ‘referee’</a:t>
            </a:r>
          </a:p>
          <a:p>
            <a:pPr marL="0" indent="0">
              <a:buNone/>
            </a:pPr>
            <a:endParaRPr lang="en-GB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Potentially code recommender tools</a:t>
            </a:r>
          </a:p>
          <a:p>
            <a:pPr marL="0" indent="0">
              <a:buNone/>
            </a:pPr>
            <a:endParaRPr lang="en-GB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Delimitate cohort flavours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Narrow vs Broad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Incident vs Prevalent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Secondary vs Primary vs All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…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C8DF20B-5B70-F3F2-2842-DF51F52D0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E9EC9331-AC5F-B114-9F11-37DF006835D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047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/>
              <a:t>Breakout Session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952B27-78B0-EA17-1134-DEC4A9663197}"/>
              </a:ext>
            </a:extLst>
          </p:cNvPr>
          <p:cNvSpPr txBox="1"/>
          <p:nvPr/>
        </p:nvSpPr>
        <p:spPr>
          <a:xfrm>
            <a:off x="-508000" y="2655313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/>
              <a:t>Try </a:t>
            </a:r>
            <a:r>
              <a:rPr lang="en-US" sz="4000" err="1"/>
              <a:t>codelist</a:t>
            </a:r>
            <a:r>
              <a:rPr lang="en-US" sz="4000"/>
              <a:t> generator</a:t>
            </a:r>
          </a:p>
          <a:p>
            <a:pPr algn="ctr">
              <a:lnSpc>
                <a:spcPct val="100000"/>
              </a:lnSpc>
            </a:pPr>
            <a:r>
              <a:rPr lang="en-US" sz="4000"/>
              <a:t>Use </a:t>
            </a:r>
            <a:r>
              <a:rPr lang="en-US" sz="4000" err="1"/>
              <a:t>codelist</a:t>
            </a:r>
            <a:r>
              <a:rPr lang="en-US" sz="4000"/>
              <a:t> generator and Athena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281324E-E060-E50E-9112-EC32AEAB303B}"/>
              </a:ext>
            </a:extLst>
          </p:cNvPr>
          <p:cNvSpPr txBox="1"/>
          <p:nvPr/>
        </p:nvSpPr>
        <p:spPr>
          <a:xfrm>
            <a:off x="1066162" y="4930605"/>
            <a:ext cx="8770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/>
              <a:t>https://dpa-pde-oxford.shinyapps.io/CodeListGenerator_shiny_SS24/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1CDF97C-CDCA-B5BB-2923-B82200A842CF}"/>
              </a:ext>
            </a:extLst>
          </p:cNvPr>
          <p:cNvSpPr txBox="1"/>
          <p:nvPr/>
        </p:nvSpPr>
        <p:spPr>
          <a:xfrm>
            <a:off x="1176228" y="5702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/>
              <a:t>https://athena.ohdsi.org/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B8F1D2CA-1776-E713-D7F8-D2F09D87594D}"/>
              </a:ext>
            </a:extLst>
          </p:cNvPr>
          <p:cNvSpPr txBox="1"/>
          <p:nvPr/>
        </p:nvSpPr>
        <p:spPr>
          <a:xfrm>
            <a:off x="1066162" y="4158560"/>
            <a:ext cx="11276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https://dpa-pde-oxford.shinyapps.io/CodeListGenerator_shiny_SS24_2/</a:t>
            </a:r>
          </a:p>
        </p:txBody>
      </p:sp>
    </p:spTree>
    <p:extLst>
      <p:ext uri="{BB962C8B-B14F-4D97-AF65-F5344CB8AC3E}">
        <p14:creationId xmlns:p14="http://schemas.microsoft.com/office/powerpoint/2010/main" val="235847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228A47-3485-4459-DA22-5CC67418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7141"/>
            <a:ext cx="12192000" cy="4303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 err="1"/>
              <a:t>Co</a:t>
            </a:r>
            <a:r>
              <a:rPr lang="en-GB" sz="4400" b="1" err="1"/>
              <a:t>delist</a:t>
            </a:r>
            <a:r>
              <a:rPr lang="en-GB" sz="4400" b="1"/>
              <a:t> Generator 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7856B9-767A-3C9B-7D5E-92D7FB296998}"/>
              </a:ext>
            </a:extLst>
          </p:cNvPr>
          <p:cNvSpPr txBox="1"/>
          <p:nvPr/>
        </p:nvSpPr>
        <p:spPr>
          <a:xfrm>
            <a:off x="1693332" y="4938401"/>
            <a:ext cx="171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2- Click here</a:t>
            </a:r>
            <a:endParaRPr lang="en-GB" sz="2400">
              <a:solidFill>
                <a:srgbClr val="1B8DA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D75AD-F1CA-8BA9-D407-D0C83026F94A}"/>
              </a:ext>
            </a:extLst>
          </p:cNvPr>
          <p:cNvSpPr txBox="1"/>
          <p:nvPr/>
        </p:nvSpPr>
        <p:spPr>
          <a:xfrm>
            <a:off x="2392992" y="861642"/>
            <a:ext cx="29818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solidFill>
                  <a:srgbClr val="1B8DAC"/>
                </a:solidFill>
              </a:rPr>
              <a:t>1. Keywords to search </a:t>
            </a:r>
          </a:p>
          <a:p>
            <a:pPr algn="ctr"/>
            <a:r>
              <a:rPr lang="en-US" sz="2400">
                <a:solidFill>
                  <a:srgbClr val="1B8DAC"/>
                </a:solidFill>
              </a:rPr>
              <a:t>and options here</a:t>
            </a:r>
            <a:endParaRPr lang="en-GB" sz="2400">
              <a:solidFill>
                <a:srgbClr val="1B8DAC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49DC83-3F33-4818-2E96-A226AC6550F9}"/>
              </a:ext>
            </a:extLst>
          </p:cNvPr>
          <p:cNvCxnSpPr>
            <a:cxnSpLocks/>
          </p:cNvCxnSpPr>
          <p:nvPr/>
        </p:nvCxnSpPr>
        <p:spPr>
          <a:xfrm flipH="1">
            <a:off x="3014133" y="1822582"/>
            <a:ext cx="127000" cy="4176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42AD0C-33BA-2EF9-D1EF-E0B6993EFD3E}"/>
              </a:ext>
            </a:extLst>
          </p:cNvPr>
          <p:cNvCxnSpPr>
            <a:cxnSpLocks/>
          </p:cNvCxnSpPr>
          <p:nvPr/>
        </p:nvCxnSpPr>
        <p:spPr>
          <a:xfrm flipH="1" flipV="1">
            <a:off x="2032811" y="4340447"/>
            <a:ext cx="520276" cy="4171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46130-44C3-85C5-03EF-79D355324B05}"/>
              </a:ext>
            </a:extLst>
          </p:cNvPr>
          <p:cNvSpPr txBox="1"/>
          <p:nvPr/>
        </p:nvSpPr>
        <p:spPr>
          <a:xfrm>
            <a:off x="7205983" y="2240256"/>
            <a:ext cx="3166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Results will appear here</a:t>
            </a:r>
            <a:endParaRPr lang="en-GB" sz="2400">
              <a:solidFill>
                <a:srgbClr val="1B8D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88AAFB-C693-EA73-8B1E-5009FF0B9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9691"/>
            <a:ext cx="12192000" cy="4118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 err="1"/>
              <a:t>Co</a:t>
            </a:r>
            <a:r>
              <a:rPr lang="en-GB" sz="4400" b="1" err="1"/>
              <a:t>delist</a:t>
            </a:r>
            <a:r>
              <a:rPr lang="en-GB" sz="4400" b="1"/>
              <a:t> Generator 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7856B9-767A-3C9B-7D5E-92D7FB296998}"/>
              </a:ext>
            </a:extLst>
          </p:cNvPr>
          <p:cNvSpPr txBox="1"/>
          <p:nvPr/>
        </p:nvSpPr>
        <p:spPr>
          <a:xfrm>
            <a:off x="5106174" y="5746443"/>
            <a:ext cx="3575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3- Download excel file here</a:t>
            </a:r>
            <a:endParaRPr lang="en-GB" sz="2400">
              <a:solidFill>
                <a:srgbClr val="1B8DAC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42AD0C-33BA-2EF9-D1EF-E0B6993EFD3E}"/>
              </a:ext>
            </a:extLst>
          </p:cNvPr>
          <p:cNvCxnSpPr>
            <a:cxnSpLocks/>
          </p:cNvCxnSpPr>
          <p:nvPr/>
        </p:nvCxnSpPr>
        <p:spPr>
          <a:xfrm flipH="1" flipV="1">
            <a:off x="4585898" y="5279727"/>
            <a:ext cx="520276" cy="4171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35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/>
              <a:t>Breakout Session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952B27-78B0-EA17-1134-DEC4A9663197}"/>
              </a:ext>
            </a:extLst>
          </p:cNvPr>
          <p:cNvSpPr txBox="1"/>
          <p:nvPr/>
        </p:nvSpPr>
        <p:spPr>
          <a:xfrm>
            <a:off x="0" y="1529246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/>
              <a:t>Try </a:t>
            </a:r>
            <a:r>
              <a:rPr lang="en-US" sz="4000" err="1"/>
              <a:t>codelist</a:t>
            </a:r>
            <a:r>
              <a:rPr lang="en-US" sz="4000"/>
              <a:t> generator</a:t>
            </a:r>
          </a:p>
          <a:p>
            <a:pPr algn="ctr">
              <a:lnSpc>
                <a:spcPct val="100000"/>
              </a:lnSpc>
            </a:pPr>
            <a:r>
              <a:rPr lang="en-US" sz="4000"/>
              <a:t>Use </a:t>
            </a:r>
            <a:r>
              <a:rPr lang="en-US" sz="4000" err="1"/>
              <a:t>codelist</a:t>
            </a:r>
            <a:r>
              <a:rPr lang="en-US" sz="4000"/>
              <a:t> generator and Athena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0A9EF-F9D6-9E35-F13C-DE955CADF971}"/>
              </a:ext>
            </a:extLst>
          </p:cNvPr>
          <p:cNvSpPr txBox="1"/>
          <p:nvPr/>
        </p:nvSpPr>
        <p:spPr>
          <a:xfrm>
            <a:off x="1321535" y="3785545"/>
            <a:ext cx="8770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/>
              <a:t>https://dpa-pde-oxford.shinyapps.io/CodeListGenerator_shiny_SS24/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116DC-2F55-0F5F-5556-6D3C1469E918}"/>
              </a:ext>
            </a:extLst>
          </p:cNvPr>
          <p:cNvSpPr txBox="1"/>
          <p:nvPr/>
        </p:nvSpPr>
        <p:spPr>
          <a:xfrm>
            <a:off x="1431601" y="45575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/>
              <a:t>https://athena.ohdsi.org/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F5D18-DCCA-CFAC-C5BA-D6C7D9D4A669}"/>
              </a:ext>
            </a:extLst>
          </p:cNvPr>
          <p:cNvSpPr txBox="1"/>
          <p:nvPr/>
        </p:nvSpPr>
        <p:spPr>
          <a:xfrm>
            <a:off x="1321535" y="3168690"/>
            <a:ext cx="11276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/>
              <a:t>https://dpa-pde-oxford.shinyapps.io/CodeListGenerator_shiny_SS24_2/</a:t>
            </a:r>
          </a:p>
        </p:txBody>
      </p:sp>
    </p:spTree>
    <p:extLst>
      <p:ext uri="{BB962C8B-B14F-4D97-AF65-F5344CB8AC3E}">
        <p14:creationId xmlns:p14="http://schemas.microsoft.com/office/powerpoint/2010/main" val="2913366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/>
              <a:t>Breakout Session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952B27-78B0-EA17-1134-DEC4A9663197}"/>
              </a:ext>
            </a:extLst>
          </p:cNvPr>
          <p:cNvSpPr txBox="1"/>
          <p:nvPr/>
        </p:nvSpPr>
        <p:spPr>
          <a:xfrm>
            <a:off x="0" y="1529246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/>
              <a:t>Try </a:t>
            </a:r>
            <a:r>
              <a:rPr lang="en-US" sz="4000" err="1"/>
              <a:t>codelist</a:t>
            </a:r>
            <a:r>
              <a:rPr lang="en-US" sz="4000"/>
              <a:t> generator</a:t>
            </a:r>
          </a:p>
          <a:p>
            <a:pPr algn="ctr">
              <a:lnSpc>
                <a:spcPct val="100000"/>
              </a:lnSpc>
            </a:pPr>
            <a:r>
              <a:rPr lang="en-US" sz="4000"/>
              <a:t>Use </a:t>
            </a:r>
            <a:r>
              <a:rPr lang="en-US" sz="4000" err="1"/>
              <a:t>codelist</a:t>
            </a:r>
            <a:r>
              <a:rPr lang="en-US" sz="4000"/>
              <a:t> generator and Athena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80035-0AE7-A54D-D5B5-F20E89D67540}"/>
              </a:ext>
            </a:extLst>
          </p:cNvPr>
          <p:cNvSpPr txBox="1"/>
          <p:nvPr/>
        </p:nvSpPr>
        <p:spPr>
          <a:xfrm>
            <a:off x="686388" y="2749330"/>
            <a:ext cx="103970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>
                <a:solidFill>
                  <a:srgbClr val="1B8DAC"/>
                </a:solidFill>
              </a:rPr>
              <a:t>Outputs: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Keywords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Any exclusions?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Options: descendants/ancestors/synonyms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Domains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N of codes </a:t>
            </a:r>
            <a:endParaRPr lang="en-GB" sz="400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0A9EF-F9D6-9E35-F13C-DE955CADF971}"/>
              </a:ext>
            </a:extLst>
          </p:cNvPr>
          <p:cNvSpPr txBox="1"/>
          <p:nvPr/>
        </p:nvSpPr>
        <p:spPr>
          <a:xfrm>
            <a:off x="4877535" y="2817677"/>
            <a:ext cx="7051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https://dpa-pde-oxford.shinyapps.io/CodeListGenerator_shiny_SS24/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116DC-2F55-0F5F-5556-6D3C1469E918}"/>
              </a:ext>
            </a:extLst>
          </p:cNvPr>
          <p:cNvSpPr txBox="1"/>
          <p:nvPr/>
        </p:nvSpPr>
        <p:spPr>
          <a:xfrm>
            <a:off x="4877535" y="35213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https://athena.ohdsi.org/search-terms/start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F5D18-DCCA-CFAC-C5BA-D6C7D9D4A669}"/>
              </a:ext>
            </a:extLst>
          </p:cNvPr>
          <p:cNvSpPr txBox="1"/>
          <p:nvPr/>
        </p:nvSpPr>
        <p:spPr>
          <a:xfrm>
            <a:off x="4877535" y="3152001"/>
            <a:ext cx="7051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https://dpa-pde-oxford.shinyapps.io/CodeListGenerator_shiny_SS24_2/</a:t>
            </a:r>
          </a:p>
        </p:txBody>
      </p:sp>
    </p:spTree>
    <p:extLst>
      <p:ext uri="{BB962C8B-B14F-4D97-AF65-F5344CB8AC3E}">
        <p14:creationId xmlns:p14="http://schemas.microsoft.com/office/powerpoint/2010/main" val="687290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952B27-78B0-EA17-1134-DEC4A9663197}"/>
              </a:ext>
            </a:extLst>
          </p:cNvPr>
          <p:cNvSpPr txBox="1"/>
          <p:nvPr/>
        </p:nvSpPr>
        <p:spPr>
          <a:xfrm>
            <a:off x="-508000" y="2655313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/>
              <a:t>Cohort creation</a:t>
            </a:r>
          </a:p>
        </p:txBody>
      </p:sp>
    </p:spTree>
    <p:extLst>
      <p:ext uri="{BB962C8B-B14F-4D97-AF65-F5344CB8AC3E}">
        <p14:creationId xmlns:p14="http://schemas.microsoft.com/office/powerpoint/2010/main" val="557965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1F1D-C6B8-149C-EBC4-94CF9E5C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B4244-FC25-E941-479F-40BEE138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48" y="1328747"/>
            <a:ext cx="7135851" cy="5313352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FoundrySterling-BookOSF" panose="02000503000000020004" pitchFamily="2" charset="0"/>
              </a:rPr>
              <a:t>Cohort for </a:t>
            </a:r>
            <a:r>
              <a:rPr lang="en-GB" sz="2400" b="1" dirty="0">
                <a:latin typeface="FoundrySterling-BookOSF" panose="02000503000000020004" pitchFamily="2" charset="0"/>
              </a:rPr>
              <a:t>each flavour</a:t>
            </a:r>
            <a:br>
              <a:rPr lang="en-GB" sz="2400" b="1" dirty="0">
                <a:latin typeface="FoundrySterling-BookOSF" panose="02000503000000020004" pitchFamily="2" charset="0"/>
              </a:rPr>
            </a:br>
            <a:endParaRPr lang="en-GB" sz="2400" b="1" dirty="0">
              <a:latin typeface="FoundrySterling-BookOSF" panose="02000503000000020004" pitchFamily="2" charset="0"/>
            </a:endParaRPr>
          </a:p>
          <a:p>
            <a:r>
              <a:rPr lang="en-GB" sz="2400" dirty="0">
                <a:latin typeface="FoundrySterling-BookOSF" panose="02000503000000020004" pitchFamily="2" charset="0"/>
              </a:rPr>
              <a:t>Determine </a:t>
            </a:r>
            <a:r>
              <a:rPr lang="en-GB" sz="2400" b="1" dirty="0">
                <a:latin typeface="FoundrySterling-BookOSF" panose="02000503000000020004" pitchFamily="2" charset="0"/>
              </a:rPr>
              <a:t>start of follow up </a:t>
            </a:r>
            <a:r>
              <a:rPr lang="en-GB" sz="2400" dirty="0">
                <a:latin typeface="FoundrySterling-BookOSF" panose="02000503000000020004" pitchFamily="2" charset="0"/>
              </a:rPr>
              <a:t>criteria: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Index event/s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Inclusion/exclusion criteria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Time in observation</a:t>
            </a:r>
            <a:br>
              <a:rPr lang="en-GB" sz="2400" dirty="0">
                <a:latin typeface="FoundrySterling-BookOSF" panose="02000503000000020004" pitchFamily="2" charset="0"/>
              </a:rPr>
            </a:br>
            <a:endParaRPr lang="en-GB" sz="2400" dirty="0">
              <a:latin typeface="FoundrySterling-BookOSF" panose="02000503000000020004" pitchFamily="2" charset="0"/>
            </a:endParaRPr>
          </a:p>
          <a:p>
            <a:r>
              <a:rPr lang="en-GB" sz="2400" dirty="0">
                <a:latin typeface="FoundrySterling-BookOSF" panose="02000503000000020004" pitchFamily="2" charset="0"/>
              </a:rPr>
              <a:t>Determine </a:t>
            </a:r>
            <a:r>
              <a:rPr lang="en-GB" sz="2400" b="1" dirty="0">
                <a:latin typeface="FoundrySterling-BookOSF" panose="02000503000000020004" pitchFamily="2" charset="0"/>
              </a:rPr>
              <a:t>end of follow up</a:t>
            </a:r>
            <a:r>
              <a:rPr lang="en-GB" sz="2400" dirty="0">
                <a:latin typeface="FoundrySterling-BookOSF" panose="02000503000000020004" pitchFamily="2" charset="0"/>
              </a:rPr>
              <a:t>: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Duration disease/drug use	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Death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End of observation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Censor at certain events</a:t>
            </a:r>
            <a:r>
              <a:rPr lang="en-GB" sz="800" dirty="0">
                <a:latin typeface="FoundrySterling-BookOSF" panose="02000503000000020004" pitchFamily="2" charset="0"/>
              </a:rPr>
              <a:t>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A62AA2-F8FD-FBAC-8F24-47F0A598A67C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DB6037-B4A8-FD2D-F7AB-2F169876C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633A74-D35B-9FEE-F6BD-F895E2179178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090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48" y="1328747"/>
            <a:ext cx="7135851" cy="5313352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FoundrySterling-BookOSF" panose="02000503000000020004" pitchFamily="2" charset="0"/>
              </a:rPr>
              <a:t>Cohort for </a:t>
            </a:r>
            <a:r>
              <a:rPr lang="en-GB" sz="2400" b="1" dirty="0">
                <a:latin typeface="FoundrySterling-BookOSF" panose="02000503000000020004" pitchFamily="2" charset="0"/>
              </a:rPr>
              <a:t>each flavour</a:t>
            </a:r>
            <a:br>
              <a:rPr lang="en-GB" sz="2400" b="1" dirty="0">
                <a:latin typeface="FoundrySterling-BookOSF" panose="02000503000000020004" pitchFamily="2" charset="0"/>
              </a:rPr>
            </a:br>
            <a:endParaRPr lang="en-GB" sz="2400" b="1" dirty="0">
              <a:latin typeface="FoundrySterling-BookOSF" panose="02000503000000020004" pitchFamily="2" charset="0"/>
            </a:endParaRPr>
          </a:p>
          <a:p>
            <a:r>
              <a:rPr lang="en-GB" sz="2400" dirty="0">
                <a:latin typeface="FoundrySterling-BookOSF" panose="02000503000000020004" pitchFamily="2" charset="0"/>
              </a:rPr>
              <a:t>Determine </a:t>
            </a:r>
            <a:r>
              <a:rPr lang="en-GB" sz="2400" b="1" dirty="0">
                <a:latin typeface="FoundrySterling-BookOSF" panose="02000503000000020004" pitchFamily="2" charset="0"/>
              </a:rPr>
              <a:t>start of follow up </a:t>
            </a:r>
            <a:r>
              <a:rPr lang="en-GB" sz="2400" dirty="0">
                <a:latin typeface="FoundrySterling-BookOSF" panose="02000503000000020004" pitchFamily="2" charset="0"/>
              </a:rPr>
              <a:t>criteria: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Index event/s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Inclusion/exclusion criteria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Time in observation</a:t>
            </a:r>
            <a:br>
              <a:rPr lang="en-GB" sz="2400" dirty="0">
                <a:latin typeface="FoundrySterling-BookOSF" panose="02000503000000020004" pitchFamily="2" charset="0"/>
              </a:rPr>
            </a:br>
            <a:endParaRPr lang="en-GB" sz="2400" dirty="0">
              <a:latin typeface="FoundrySterling-BookOSF" panose="02000503000000020004" pitchFamily="2" charset="0"/>
            </a:endParaRPr>
          </a:p>
          <a:p>
            <a:r>
              <a:rPr lang="en-GB" sz="2400" dirty="0">
                <a:latin typeface="FoundrySterling-BookOSF" panose="02000503000000020004" pitchFamily="2" charset="0"/>
              </a:rPr>
              <a:t>Determine </a:t>
            </a:r>
            <a:r>
              <a:rPr lang="en-GB" sz="2400" b="1" dirty="0">
                <a:latin typeface="FoundrySterling-BookOSF" panose="02000503000000020004" pitchFamily="2" charset="0"/>
              </a:rPr>
              <a:t>end of follow up</a:t>
            </a:r>
            <a:r>
              <a:rPr lang="en-GB" sz="2400" dirty="0">
                <a:latin typeface="FoundrySterling-BookOSF" panose="02000503000000020004" pitchFamily="2" charset="0"/>
              </a:rPr>
              <a:t>: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Duration disease/drug use	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Death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End of observation</a:t>
            </a:r>
          </a:p>
          <a:p>
            <a:pPr marL="0" indent="0">
              <a:buNone/>
            </a:pPr>
            <a:r>
              <a:rPr lang="en-GB" sz="2400" dirty="0">
                <a:latin typeface="FoundrySterling-BookOSF" panose="02000503000000020004" pitchFamily="2" charset="0"/>
              </a:rPr>
              <a:t>	- Censor at certain events</a:t>
            </a:r>
            <a:r>
              <a:rPr lang="en-GB" sz="800" dirty="0">
                <a:latin typeface="FoundrySterling-BookOSF" panose="02000503000000020004" pitchFamily="2" charset="0"/>
              </a:rPr>
              <a:t>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3A2606-79F7-9A95-E878-9F9F9904FBBF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ABADD3-C7BE-9DBE-AE67-1F5B370B1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6DBE1E-4002-3562-FC2C-A92FE8E4F281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4F4170-D7DC-6C2B-4F40-FD77F3829F71}"/>
              </a:ext>
            </a:extLst>
          </p:cNvPr>
          <p:cNvSpPr txBox="1"/>
          <p:nvPr/>
        </p:nvSpPr>
        <p:spPr>
          <a:xfrm>
            <a:off x="7043863" y="2644170"/>
            <a:ext cx="48110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FoundrySterling-BookOSF" panose="02000503000000020004" pitchFamily="2" charset="0"/>
              </a:rPr>
              <a:t>Which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FoundrySterling-BookOSF" panose="02000503000000020004" pitchFamily="2" charset="0"/>
              </a:rPr>
              <a:t>code lists/concept sets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FoundrySterling-BookOSF" panose="02000503000000020004" pitchFamily="2" charset="0"/>
              </a:rPr>
              <a:t>do you need?</a:t>
            </a:r>
          </a:p>
          <a:p>
            <a:endParaRPr lang="en-GB" sz="2400" dirty="0">
              <a:solidFill>
                <a:schemeClr val="accent1">
                  <a:lumMod val="75000"/>
                </a:schemeClr>
              </a:solidFill>
              <a:latin typeface="FoundrySterling-BookOSF" panose="02000503000000020004" pitchFamily="2" charset="0"/>
            </a:endParaRP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FoundrySterling-BookOSF" panose="02000503000000020004" pitchFamily="2" charset="0"/>
              </a:rPr>
              <a:t>Do you want to apply any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FoundrySterling-BookOSF" panose="02000503000000020004" pitchFamily="2" charset="0"/>
              </a:rPr>
              <a:t>logics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FoundrySterling-BookOSF" panose="02000503000000020004" pitchFamily="2" charset="0"/>
              </a:rPr>
              <a:t>?</a:t>
            </a:r>
            <a:endParaRPr lang="en-GB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122" name="Picture 2" descr="diseño de estrella azul 4083503 Vector en Vecteezy">
            <a:extLst>
              <a:ext uri="{FF2B5EF4-FFF2-40B4-BE49-F238E27FC236}">
                <a16:creationId xmlns:a16="http://schemas.microsoft.com/office/drawing/2014/main" id="{DC74ADB8-C70D-58BC-0E63-5E21F4511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287" y="2644170"/>
            <a:ext cx="663575" cy="60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iseño de estrella azul 4083503 Vector en Vecteezy">
            <a:extLst>
              <a:ext uri="{FF2B5EF4-FFF2-40B4-BE49-F238E27FC236}">
                <a16:creationId xmlns:a16="http://schemas.microsoft.com/office/drawing/2014/main" id="{DD0A98BB-274C-FEAB-0E52-3CC49B35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288" y="3604813"/>
            <a:ext cx="663575" cy="60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983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37681-2C68-943F-E3E4-C4E523BE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EE5F2FC-EDB4-7861-A5FB-EFB1F01AB9EA}"/>
              </a:ext>
            </a:extLst>
          </p:cNvPr>
          <p:cNvSpPr txBox="1"/>
          <p:nvPr/>
        </p:nvSpPr>
        <p:spPr>
          <a:xfrm>
            <a:off x="567855" y="1267616"/>
            <a:ext cx="64268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800" b="1" dirty="0">
                <a:latin typeface="FoundrySterling-BookOSF" panose="02000503000000020004" pitchFamily="2" charset="0"/>
              </a:rPr>
              <a:t>Tools:</a:t>
            </a:r>
          </a:p>
          <a:p>
            <a:pPr marL="0" indent="0">
              <a:buNone/>
            </a:pPr>
            <a:r>
              <a:rPr lang="en-GB" sz="2800" dirty="0">
                <a:latin typeface="FoundrySterling-BookOSF" panose="02000503000000020004" pitchFamily="2" charset="0"/>
              </a:rPr>
              <a:t>	- ATLAS</a:t>
            </a:r>
          </a:p>
          <a:p>
            <a:pPr marL="0" indent="0">
              <a:buNone/>
            </a:pPr>
            <a:r>
              <a:rPr lang="en-GB" sz="2800" dirty="0">
                <a:latin typeface="FoundrySterling-BookOSF" panose="02000503000000020004" pitchFamily="2" charset="0"/>
              </a:rPr>
              <a:t>	- </a:t>
            </a:r>
            <a:r>
              <a:rPr lang="en-GB" sz="2800" dirty="0" err="1">
                <a:latin typeface="FoundrySterling-BookOSF" panose="02000503000000020004" pitchFamily="2" charset="0"/>
              </a:rPr>
              <a:t>CohortConstructor</a:t>
            </a:r>
            <a:endParaRPr lang="en-GB" sz="2800" dirty="0">
              <a:latin typeface="FoundrySterling-BookOSF" panose="02000503000000020004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9667A2-F595-981A-5EC5-8D87A152F4F9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131B3F-2F40-8005-1148-858DBE141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EF8A5D-1D4F-B726-A93F-7D09A18AF6E1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015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EC8816-2972-5120-A01D-757D2A14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83" b="6498"/>
          <a:stretch>
            <a:fillRect/>
          </a:stretch>
        </p:blipFill>
        <p:spPr>
          <a:xfrm>
            <a:off x="567855" y="1151282"/>
            <a:ext cx="10841620" cy="570671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309F95-8533-4EF1-39B9-9D34BC7F3508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F4E58B-39C7-F6C4-0E27-34C255AA0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1EB81D-C630-E839-EC1C-383A647B8B2F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3B7B15-71DE-CBA0-4C16-80CD7B7B3DB4}"/>
              </a:ext>
            </a:extLst>
          </p:cNvPr>
          <p:cNvSpPr txBox="1"/>
          <p:nvPr/>
        </p:nvSpPr>
        <p:spPr>
          <a:xfrm>
            <a:off x="5488993" y="333944"/>
            <a:ext cx="1483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hlinkClick r:id="rId4"/>
              </a:rPr>
              <a:t>ATLAS</a:t>
            </a:r>
            <a:endParaRPr lang="en-GB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BCD2E8-24E6-3450-C122-4CEF5A1F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76" t="10065" r="57409" b="89353"/>
          <a:stretch>
            <a:fillRect/>
          </a:stretch>
        </p:blipFill>
        <p:spPr>
          <a:xfrm>
            <a:off x="10732168" y="1225560"/>
            <a:ext cx="359902" cy="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79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7E87A07-A678-7BF0-ED3D-79D544EA1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25" y="2626606"/>
            <a:ext cx="1958966" cy="227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575627-38CC-2C17-47F3-97E2A4E1C0D5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722C24-21F6-A9AE-EAB8-73A4526CE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F3CE95-B148-C1A1-EECF-24FC9BBD525B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C545A1-04AD-BB7D-EF34-D2186BAE572B}"/>
              </a:ext>
            </a:extLst>
          </p:cNvPr>
          <p:cNvSpPr txBox="1"/>
          <p:nvPr/>
        </p:nvSpPr>
        <p:spPr>
          <a:xfrm>
            <a:off x="4238155" y="480534"/>
            <a:ext cx="5375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hlinkClick r:id="rId4"/>
              </a:rPr>
              <a:t>Package index • </a:t>
            </a:r>
            <a:r>
              <a:rPr lang="en-GB" sz="2800" dirty="0" err="1">
                <a:hlinkClick r:id="rId4"/>
              </a:rPr>
              <a:t>CohortConstructor</a:t>
            </a:r>
            <a:endParaRPr lang="en-GB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FB6AC1-4CA1-E004-3AC2-CDCE9E410D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57" b="6096"/>
          <a:stretch>
            <a:fillRect/>
          </a:stretch>
        </p:blipFill>
        <p:spPr>
          <a:xfrm>
            <a:off x="2988361" y="1573436"/>
            <a:ext cx="8855702" cy="501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83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65E0-25F7-4FF2-91C7-733C251D1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6BEF3A2-AB2C-E37C-4275-FBF37ECEE8DD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Cohort creation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E0E717-D2C6-E951-6BA8-91897F0B5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05AB30-8029-BA5D-1797-522E2D416489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EC0793-972E-3478-A532-ECCDA136E654}"/>
              </a:ext>
            </a:extLst>
          </p:cNvPr>
          <p:cNvSpPr txBox="1"/>
          <p:nvPr/>
        </p:nvSpPr>
        <p:spPr>
          <a:xfrm>
            <a:off x="4347787" y="438226"/>
            <a:ext cx="86039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b="1" i="0" dirty="0">
                <a:solidFill>
                  <a:srgbClr val="000000"/>
                </a:solidFill>
                <a:effectLst/>
                <a:latin typeface="FoundrySterling-Bold"/>
              </a:rPr>
              <a:t>The HARPER diagram</a:t>
            </a:r>
          </a:p>
        </p:txBody>
      </p:sp>
      <p:sp>
        <p:nvSpPr>
          <p:cNvPr id="3" name="CuadroTexto 6">
            <a:extLst>
              <a:ext uri="{FF2B5EF4-FFF2-40B4-BE49-F238E27FC236}">
                <a16:creationId xmlns:a16="http://schemas.microsoft.com/office/drawing/2014/main" id="{9677E02E-134B-B5DE-85EB-697FE17BA04A}"/>
              </a:ext>
            </a:extLst>
          </p:cNvPr>
          <p:cNvSpPr txBox="1"/>
          <p:nvPr/>
        </p:nvSpPr>
        <p:spPr>
          <a:xfrm>
            <a:off x="567855" y="1267616"/>
            <a:ext cx="245623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800" dirty="0">
                <a:latin typeface="FoundrySterling-BookOSF" panose="02000503000000020004" pitchFamily="2" charset="0"/>
              </a:rPr>
              <a:t>An example:</a:t>
            </a:r>
          </a:p>
          <a:p>
            <a:pPr marL="0" indent="0">
              <a:buNone/>
            </a:pPr>
            <a:endParaRPr lang="en-GB" sz="2800" dirty="0">
              <a:latin typeface="FoundrySterling-BookOSF" panose="02000503000000020004" pitchFamily="2" charset="0"/>
            </a:endParaRPr>
          </a:p>
          <a:p>
            <a:r>
              <a:rPr lang="en-GB" sz="2400" dirty="0">
                <a:latin typeface="FoundrySterling-Bold"/>
                <a:hlinkClick r:id="rId3"/>
              </a:rPr>
              <a:t>DARWIN EU® - Prevalence of hypertrophic cardiomyopathy (HCM) and obstructive hypertrophic cardiomyopathy (</a:t>
            </a:r>
            <a:r>
              <a:rPr lang="en-GB" sz="2400" dirty="0" err="1">
                <a:latin typeface="FoundrySterling-Bold"/>
                <a:hlinkClick r:id="rId3"/>
              </a:rPr>
              <a:t>oHCM</a:t>
            </a:r>
            <a:r>
              <a:rPr lang="en-GB" sz="2400" dirty="0">
                <a:latin typeface="FoundrySterling-Bold"/>
                <a:hlinkClick r:id="rId3"/>
              </a:rPr>
              <a:t>) in Europe</a:t>
            </a:r>
            <a:endParaRPr lang="en-GB" sz="3200" dirty="0">
              <a:latin typeface="FoundrySterling-Bold"/>
            </a:endParaRPr>
          </a:p>
        </p:txBody>
      </p:sp>
      <p:sp>
        <p:nvSpPr>
          <p:cNvPr id="50" name="Down Arrow 157">
            <a:extLst>
              <a:ext uri="{FF2B5EF4-FFF2-40B4-BE49-F238E27FC236}">
                <a16:creationId xmlns:a16="http://schemas.microsoft.com/office/drawing/2014/main" id="{5B17F655-929D-1F36-37CE-B571A4BB7859}"/>
              </a:ext>
            </a:extLst>
          </p:cNvPr>
          <p:cNvSpPr/>
          <p:nvPr/>
        </p:nvSpPr>
        <p:spPr>
          <a:xfrm>
            <a:off x="6526176" y="1654769"/>
            <a:ext cx="228131" cy="4230872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7161" tIns="18580" rIns="37161" bIns="1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47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7D77A4-B96C-E48E-9B6E-21215BB6FA98}"/>
              </a:ext>
            </a:extLst>
          </p:cNvPr>
          <p:cNvCxnSpPr>
            <a:cxnSpLocks/>
          </p:cNvCxnSpPr>
          <p:nvPr/>
        </p:nvCxnSpPr>
        <p:spPr>
          <a:xfrm>
            <a:off x="3894827" y="5572199"/>
            <a:ext cx="7704462" cy="0"/>
          </a:xfrm>
          <a:prstGeom prst="line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5B258C9-B25B-D6E2-EC17-8762DA320B71}"/>
              </a:ext>
            </a:extLst>
          </p:cNvPr>
          <p:cNvSpPr txBox="1"/>
          <p:nvPr/>
        </p:nvSpPr>
        <p:spPr>
          <a:xfrm>
            <a:off x="5483740" y="1267616"/>
            <a:ext cx="2307091" cy="33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90" b="1" dirty="0">
                <a:latin typeface="Arial" panose="020B0604020202020204" pitchFamily="34" charset="0"/>
                <a:cs typeface="Arial" panose="020B0604020202020204" pitchFamily="34" charset="0"/>
              </a:rPr>
              <a:t>INDEX Date</a:t>
            </a:r>
          </a:p>
          <a:p>
            <a:pPr algn="ctr"/>
            <a:r>
              <a:rPr lang="en-US" sz="790" b="1" dirty="0">
                <a:latin typeface="Arial" panose="020B0604020202020204" pitchFamily="34" charset="0"/>
                <a:cs typeface="Arial" panose="020B0604020202020204" pitchFamily="34" charset="0"/>
              </a:rPr>
              <a:t>(First recorded diagnosis of HCM or </a:t>
            </a:r>
            <a:r>
              <a:rPr lang="en-US" sz="790" b="1" dirty="0" err="1">
                <a:latin typeface="Arial" panose="020B0604020202020204" pitchFamily="34" charset="0"/>
                <a:cs typeface="Arial" panose="020B0604020202020204" pitchFamily="34" charset="0"/>
              </a:rPr>
              <a:t>oHCM</a:t>
            </a:r>
            <a:r>
              <a:rPr lang="en-US" sz="79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3" name="TextBox 75">
            <a:extLst>
              <a:ext uri="{FF2B5EF4-FFF2-40B4-BE49-F238E27FC236}">
                <a16:creationId xmlns:a16="http://schemas.microsoft.com/office/drawing/2014/main" id="{E7ED46DE-6C18-B2F4-4B6C-A6218FABB1ED}"/>
              </a:ext>
            </a:extLst>
          </p:cNvPr>
          <p:cNvSpPr txBox="1"/>
          <p:nvPr/>
        </p:nvSpPr>
        <p:spPr>
          <a:xfrm>
            <a:off x="4576378" y="2141204"/>
            <a:ext cx="2012189" cy="588538"/>
          </a:xfrm>
          <a:prstGeom prst="rect">
            <a:avLst/>
          </a:prstGeom>
          <a:solidFill>
            <a:srgbClr val="AEC7E8"/>
          </a:solidFill>
        </p:spPr>
        <p:txBody>
          <a:bodyPr wrap="square" tIns="61934" bIns="61934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121514" algn="l"/>
              </a:tabLst>
            </a:pPr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INCLUSION Assessment Window</a:t>
            </a:r>
          </a:p>
          <a:p>
            <a:pPr algn="ctr">
              <a:tabLst>
                <a:tab pos="121514" algn="l"/>
              </a:tabLst>
            </a:pPr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(continuous enrollment in the database)</a:t>
            </a:r>
          </a:p>
          <a:p>
            <a:pPr algn="ct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Days [-365, -1]</a:t>
            </a:r>
          </a:p>
        </p:txBody>
      </p:sp>
      <p:sp>
        <p:nvSpPr>
          <p:cNvPr id="54" name="TextBox 14">
            <a:extLst>
              <a:ext uri="{FF2B5EF4-FFF2-40B4-BE49-F238E27FC236}">
                <a16:creationId xmlns:a16="http://schemas.microsoft.com/office/drawing/2014/main" id="{F8EF3B92-6FBC-9A95-7D0A-A9B090F33D0F}"/>
              </a:ext>
            </a:extLst>
          </p:cNvPr>
          <p:cNvSpPr txBox="1"/>
          <p:nvPr/>
        </p:nvSpPr>
        <p:spPr>
          <a:xfrm>
            <a:off x="6580565" y="1714360"/>
            <a:ext cx="113440" cy="224657"/>
          </a:xfrm>
          <a:prstGeom prst="rect">
            <a:avLst/>
          </a:prstGeom>
          <a:solidFill>
            <a:srgbClr val="AEC7E8"/>
          </a:solidFill>
        </p:spPr>
        <p:txBody>
          <a:bodyPr wrap="square" tIns="61934" bIns="61934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47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F6479B-AB8E-5360-3EA9-06C67A83A258}"/>
              </a:ext>
            </a:extLst>
          </p:cNvPr>
          <p:cNvSpPr/>
          <p:nvPr/>
        </p:nvSpPr>
        <p:spPr>
          <a:xfrm>
            <a:off x="4648919" y="1657719"/>
            <a:ext cx="1926504" cy="439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INCLUSION Assessment Window</a:t>
            </a:r>
          </a:p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(Aged ≥18 years)</a:t>
            </a:r>
          </a:p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Days [0, 0]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20A785-0044-0686-2BBD-364E6BAA5B81}"/>
              </a:ext>
            </a:extLst>
          </p:cNvPr>
          <p:cNvSpPr txBox="1"/>
          <p:nvPr/>
        </p:nvSpPr>
        <p:spPr>
          <a:xfrm>
            <a:off x="6586889" y="2762638"/>
            <a:ext cx="5012400" cy="356808"/>
          </a:xfrm>
          <a:prstGeom prst="rect">
            <a:avLst/>
          </a:prstGeom>
          <a:solidFill>
            <a:srgbClr val="98DF8A"/>
          </a:solidFill>
          <a:ln>
            <a:noFill/>
          </a:ln>
        </p:spPr>
        <p:txBody>
          <a:bodyPr wrap="square" tIns="61934" bIns="61934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FOLLOW-UP Window</a:t>
            </a:r>
          </a:p>
          <a:p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Days [0, </a:t>
            </a:r>
            <a:r>
              <a:rPr lang="en-US" sz="753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Censor</a:t>
            </a:r>
            <a:r>
              <a:rPr lang="en-US" sz="753" b="1" baseline="30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9AE022-CE14-E4C1-BE8B-1FC97E2E1B56}"/>
              </a:ext>
            </a:extLst>
          </p:cNvPr>
          <p:cNvSpPr txBox="1"/>
          <p:nvPr/>
        </p:nvSpPr>
        <p:spPr>
          <a:xfrm>
            <a:off x="3859624" y="3344337"/>
            <a:ext cx="2727265" cy="654374"/>
          </a:xfrm>
          <a:prstGeom prst="rect">
            <a:avLst/>
          </a:prstGeom>
          <a:solidFill>
            <a:srgbClr val="C5B0D5"/>
          </a:solidFill>
        </p:spPr>
        <p:txBody>
          <a:bodyPr wrap="square" tIns="37161" bIns="37161" rtlCol="0">
            <a:spAutoFit/>
          </a:bodyPr>
          <a:lstStyle/>
          <a:p>
            <a:pPr algn="r"/>
            <a:r>
              <a:rPr lang="en-GB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COVARIATE Assessment Window</a:t>
            </a:r>
          </a:p>
          <a:p>
            <a:pPr algn="r"/>
            <a:r>
              <a:rPr lang="en-GB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(comorbidities, measurements, medications, procedures)</a:t>
            </a:r>
          </a:p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 (- ∞, -5] (- 5, -3] ​(-3, -1] </a:t>
            </a:r>
          </a:p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Days [-364, -181] [-180, -91] [-90, -1]​ ​(- ∞, -1]​​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4F0048E-C016-BD3B-E79E-FFE34ED894BA}"/>
              </a:ext>
            </a:extLst>
          </p:cNvPr>
          <p:cNvSpPr/>
          <p:nvPr/>
        </p:nvSpPr>
        <p:spPr>
          <a:xfrm>
            <a:off x="4006048" y="4069256"/>
            <a:ext cx="2580841" cy="5557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COVARIATE Assessment Window</a:t>
            </a:r>
          </a:p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(demographics, comorbidities, measurements, medications, procedures)</a:t>
            </a:r>
            <a:r>
              <a:rPr lang="en-GB" sz="753" b="1" baseline="30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753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Days [0, 0]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3D5A8C-428B-3432-5A6A-41B0DB434783}"/>
              </a:ext>
            </a:extLst>
          </p:cNvPr>
          <p:cNvSpPr txBox="1"/>
          <p:nvPr/>
        </p:nvSpPr>
        <p:spPr>
          <a:xfrm>
            <a:off x="3516407" y="6162295"/>
            <a:ext cx="7021154" cy="2312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2044" indent="-172044">
              <a:buFontTx/>
              <a:buAutoNum type="alphaLcPeriod"/>
            </a:pPr>
            <a:r>
              <a:rPr lang="en-GB" sz="903" dirty="0"/>
              <a:t>Follow-up until the earliest of loss to follow-up, end of data availability, or death</a:t>
            </a:r>
            <a:endParaRPr lang="en-US" sz="903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EDD5FC-49D6-A99D-651F-3375053D7776}"/>
              </a:ext>
            </a:extLst>
          </p:cNvPr>
          <p:cNvSpPr txBox="1"/>
          <p:nvPr/>
        </p:nvSpPr>
        <p:spPr>
          <a:xfrm>
            <a:off x="6701174" y="4672157"/>
            <a:ext cx="4909404" cy="538508"/>
          </a:xfrm>
          <a:prstGeom prst="rect">
            <a:avLst/>
          </a:prstGeom>
          <a:solidFill>
            <a:srgbClr val="C5B0D5"/>
          </a:solidFill>
        </p:spPr>
        <p:txBody>
          <a:bodyPr wrap="square" tIns="37161" bIns="37161" rtlCol="0">
            <a:spAutoFit/>
          </a:bodyPr>
          <a:lstStyle/>
          <a:p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COVARIATE Assessment Window</a:t>
            </a:r>
          </a:p>
          <a:p>
            <a:r>
              <a:rPr lang="en-GB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(comorbidities, measurements, medications, procedures)</a:t>
            </a:r>
          </a:p>
          <a:p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Days [1, 90] [91, 180] [181, 364]</a:t>
            </a:r>
          </a:p>
          <a:p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 [1, 3) [3, 5) ​[5, ∞)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4BB069-C7F8-63BE-5AB4-BE6A0D815F17}"/>
              </a:ext>
            </a:extLst>
          </p:cNvPr>
          <p:cNvSpPr txBox="1"/>
          <p:nvPr/>
        </p:nvSpPr>
        <p:spPr>
          <a:xfrm>
            <a:off x="10537561" y="5666560"/>
            <a:ext cx="1654439" cy="208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3" b="1" dirty="0">
                <a:latin typeface="Arial" panose="020B0604020202020204" pitchFamily="34" charset="0"/>
                <a:cs typeface="Arial" panose="020B0604020202020204" pitchFamily="34" charset="0"/>
              </a:rPr>
              <a:t>End data availability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920FFD-2DA2-2062-1D6E-82D47D67764C}"/>
              </a:ext>
            </a:extLst>
          </p:cNvPr>
          <p:cNvSpPr txBox="1"/>
          <p:nvPr/>
        </p:nvSpPr>
        <p:spPr>
          <a:xfrm>
            <a:off x="3303130" y="5647559"/>
            <a:ext cx="1271581" cy="43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3" b="1" dirty="0">
                <a:latin typeface="Arial" panose="020B0604020202020204" pitchFamily="34" charset="0"/>
                <a:cs typeface="Arial" panose="020B0604020202020204" pitchFamily="34" charset="0"/>
              </a:rPr>
              <a:t>Start date – database inception date </a:t>
            </a:r>
          </a:p>
          <a:p>
            <a:pPr algn="ctr"/>
            <a:r>
              <a:rPr lang="en-US" sz="753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08045167-5033-2AD7-1D8D-21776BDDFA78}"/>
              </a:ext>
            </a:extLst>
          </p:cNvPr>
          <p:cNvSpPr txBox="1"/>
          <p:nvPr/>
        </p:nvSpPr>
        <p:spPr>
          <a:xfrm>
            <a:off x="6586889" y="4143094"/>
            <a:ext cx="108908" cy="190913"/>
          </a:xfrm>
          <a:prstGeom prst="rect">
            <a:avLst/>
          </a:prstGeom>
          <a:solidFill>
            <a:srgbClr val="C5B0D5"/>
          </a:solidFill>
        </p:spPr>
        <p:txBody>
          <a:bodyPr wrap="square" tIns="37161" bIns="37161" rtlCol="0">
            <a:spAutoFit/>
          </a:bodyPr>
          <a:lstStyle>
            <a:defPPr>
              <a:defRPr lang="en-US"/>
            </a:defPPr>
            <a:lvl1pPr algn="ctr">
              <a:defRPr sz="1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53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8A9403-9D8E-DD4C-94B7-3291708E7362}"/>
              </a:ext>
            </a:extLst>
          </p:cNvPr>
          <p:cNvSpPr txBox="1"/>
          <p:nvPr/>
        </p:nvSpPr>
        <p:spPr>
          <a:xfrm>
            <a:off x="3872769" y="2704732"/>
            <a:ext cx="2715799" cy="472673"/>
          </a:xfrm>
          <a:prstGeom prst="rect">
            <a:avLst/>
          </a:prstGeom>
          <a:solidFill>
            <a:srgbClr val="FFBB78"/>
          </a:solidFill>
        </p:spPr>
        <p:txBody>
          <a:bodyPr wrap="square" tIns="61934" bIns="61934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Assessment Window </a:t>
            </a:r>
          </a:p>
          <a:p>
            <a:pPr algn="ct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(Diagnosis of HCM or </a:t>
            </a:r>
            <a:r>
              <a:rPr lang="en-US" sz="753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oHCM</a:t>
            </a:r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lang="en-US" sz="75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Days (-∞, -1]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EBA598-3B0A-3FB3-00D2-6C0244F1047A}"/>
              </a:ext>
            </a:extLst>
          </p:cNvPr>
          <p:cNvSpPr txBox="1"/>
          <p:nvPr/>
        </p:nvSpPr>
        <p:spPr>
          <a:xfrm>
            <a:off x="9884909" y="5312047"/>
            <a:ext cx="2307091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90" dirty="0">
                <a:latin typeface="Arial" panose="020B0604020202020204" pitchFamily="34" charset="0"/>
                <a:cs typeface="Arial" panose="020B0604020202020204" pitchFamily="34" charset="0"/>
              </a:rPr>
              <a:t>Observation period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DCAB64-BACA-EAD7-8F8D-704CD83AE27C}"/>
              </a:ext>
            </a:extLst>
          </p:cNvPr>
          <p:cNvSpPr txBox="1"/>
          <p:nvPr/>
        </p:nvSpPr>
        <p:spPr>
          <a:xfrm>
            <a:off x="1272066" y="6481998"/>
            <a:ext cx="1167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Graphical Depiction of Longitudinal Study Designs in Health Care Databases | Annals of Internal Medicine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341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EB6C64-9BE5-CFBB-9865-0A2A21DB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Breakout Session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472EE-4B4D-1A43-7F73-FA29A95B8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0AC4EA-3109-25FD-2588-484C46CCF915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BC41C8-8BCC-A9F8-0FE2-08809DF56F18}"/>
              </a:ext>
            </a:extLst>
          </p:cNvPr>
          <p:cNvSpPr txBox="1"/>
          <p:nvPr/>
        </p:nvSpPr>
        <p:spPr>
          <a:xfrm>
            <a:off x="663105" y="2278546"/>
            <a:ext cx="10325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4000" dirty="0"/>
              <a:t>Generate the cohorts by drawing the Harper diagram based on the phenotypes needed to answer your research question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94585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EC0AD-FF7F-097C-7537-C4964030DC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871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is long-term risk of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stroke</a:t>
            </a:r>
            <a:r>
              <a:rPr lang="en-GB" dirty="0"/>
              <a:t> in patients with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atrial fibrillation  </a:t>
            </a:r>
            <a:r>
              <a:rPr lang="en-GB" dirty="0"/>
              <a:t>and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hypertension</a:t>
            </a:r>
            <a:r>
              <a:rPr lang="en-GB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is the short-term impact of aortic valve replacement in reducing the incidence of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heart failure </a:t>
            </a:r>
            <a:r>
              <a:rPr lang="en-GB" dirty="0"/>
              <a:t>in patients with severe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aortic stenosis</a:t>
            </a:r>
            <a:r>
              <a:rPr lang="en-GB" dirty="0"/>
              <a:t>?</a:t>
            </a:r>
          </a:p>
          <a:p>
            <a:pPr marL="285750" indent="-285750"/>
            <a:r>
              <a:rPr lang="en-GB" dirty="0"/>
              <a:t>What is the prognosis of patients with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coronary artery disease </a:t>
            </a:r>
            <a:r>
              <a:rPr lang="en-GB" dirty="0"/>
              <a:t>who also have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hypertension</a:t>
            </a:r>
            <a:r>
              <a:rPr lang="en-GB" dirty="0"/>
              <a:t>?</a:t>
            </a:r>
          </a:p>
          <a:p>
            <a:pPr marL="285750" indent="-285750"/>
            <a:r>
              <a:rPr lang="en-GB" dirty="0"/>
              <a:t>What is the risk of developing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heart failure </a:t>
            </a:r>
            <a:r>
              <a:rPr lang="en-GB" dirty="0"/>
              <a:t>in patients with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acute pericarditis</a:t>
            </a:r>
            <a:r>
              <a:rPr lang="en-GB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is the 1-year mortality rate for patients diagnosed with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myocardial infarction</a:t>
            </a:r>
            <a:r>
              <a:rPr lang="en-GB" dirty="0"/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E2D4A5B-B604-F903-F2D8-CE2BB7831AA0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56C813-CA81-545E-8E2F-0C6D4136D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0E8419-6CDA-1C1B-2AD8-18210EB29CD1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91F8FAC-9129-F802-C9B4-4118C4E2A856}"/>
              </a:ext>
            </a:extLst>
          </p:cNvPr>
          <p:cNvSpPr txBox="1"/>
          <p:nvPr/>
        </p:nvSpPr>
        <p:spPr>
          <a:xfrm>
            <a:off x="5384565" y="231686"/>
            <a:ext cx="3139220" cy="646331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Calibri"/>
                <a:cs typeface="Calibri"/>
              </a:rPr>
              <a:t>Pending to align with Annika and Xintong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191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93896-B181-48E6-3901-8D2073AF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1573B-0589-4938-866B-98A9D493F86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What is long-term risk of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stroke</a:t>
            </a:r>
            <a:r>
              <a:rPr lang="en-GB" sz="3200" dirty="0"/>
              <a:t> in patients with</a:t>
            </a:r>
            <a:r>
              <a:rPr lang="en-GB" sz="3200" b="1" dirty="0"/>
              <a:t>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atrial fibrillation  </a:t>
            </a:r>
            <a:r>
              <a:rPr lang="en-GB" sz="3200" dirty="0"/>
              <a:t>and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hypertension</a:t>
            </a:r>
            <a:r>
              <a:rPr lang="en-GB" sz="3200" dirty="0"/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259A9C-494C-0B44-C1DE-64566FDE581B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260160-6720-1C6F-38A9-F51D02DB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5FE609-A4F7-34D8-CE02-02533D6EC106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569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5731-9F2B-1B1D-BBB0-87780304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53160-6C8D-B68C-8782-8FCFC9D9AED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What is the short-term impact of aortic valve replacement in reducing the incidence of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heart failure </a:t>
            </a:r>
            <a:r>
              <a:rPr lang="en-GB" sz="3200" dirty="0"/>
              <a:t>in patients with severe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aortic stenosis</a:t>
            </a:r>
            <a:r>
              <a:rPr lang="en-GB" sz="3200" dirty="0"/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2B3166-D0C4-8E91-9E77-4C3AC21D5BDC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1298D-F34E-B8C1-D3C8-9EF599F68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123E4A-FA89-5C92-8206-3C7213E13B2C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370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8955-48AB-1BAC-6DFF-6FB1B3DF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7E32C-9F6D-4CE0-6048-40D25DB2F39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What is the prognosis of patients with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coronary artery disease </a:t>
            </a:r>
            <a:r>
              <a:rPr lang="en-GB" sz="3200" dirty="0"/>
              <a:t>who also have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hypertension</a:t>
            </a:r>
            <a:r>
              <a:rPr lang="en-GB" sz="3200" dirty="0"/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65F972-480F-2CD6-312F-52FC113281C4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5FD806-1386-0D1E-B6B7-CAB2157E0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147B7F-D299-A163-3885-E5A1FB3EEC6A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129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21BF-1A9C-EF5E-868F-BB1FD3EA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FB739-CAC0-408E-B3EC-DDD34FC46D4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What is the risk of developing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heart failure </a:t>
            </a:r>
            <a:r>
              <a:rPr lang="en-GB" sz="3200" dirty="0"/>
              <a:t>in patients with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acute pericarditis</a:t>
            </a:r>
            <a:r>
              <a:rPr lang="en-GB" sz="3200" dirty="0"/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C35C63-8A68-AB48-0A13-D70D61E06622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869656-22FE-1394-1246-2C492B9E7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428261-17EA-538B-C331-8F51392EAAFC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971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F802-6BE4-F52E-5692-E85094EE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EA424-423C-EAC4-36F7-F7EBBC66B98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What is the 1-year mortality rate for patients diagnosed with </a:t>
            </a:r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myocardial infarction</a:t>
            </a:r>
            <a:r>
              <a:rPr lang="en-GB" sz="3200" dirty="0"/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04FE8D-E33C-9AD5-9771-331C67888348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AFF7DD-432A-5DBE-CF61-E32BA1446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27B937-34C1-0D37-D627-B7A7DAC8E700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876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982</Words>
  <Application>Microsoft Office PowerPoint</Application>
  <PresentationFormat>Panorámica</PresentationFormat>
  <Paragraphs>181</Paragraphs>
  <Slides>28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FoundrySterling-Bold</vt:lpstr>
      <vt:lpstr>FoundrySterling-BookOSF</vt:lpstr>
      <vt:lpstr>Office Theme</vt:lpstr>
      <vt:lpstr> CodelistGenerator and  Cohorts</vt:lpstr>
      <vt:lpstr>Schedule</vt:lpstr>
      <vt:lpstr>Phenotyping reminder</vt:lpstr>
      <vt:lpstr>Presentación de PowerPoint</vt:lpstr>
      <vt:lpstr>3. New phenotype generation</vt:lpstr>
      <vt:lpstr>3.1 Codelist generation</vt:lpstr>
      <vt:lpstr>Presentación de PowerPoint</vt:lpstr>
      <vt:lpstr>Presentación de PowerPoint</vt:lpstr>
      <vt:lpstr>3.2 Codelist refinement</vt:lpstr>
      <vt:lpstr>Breakout Session</vt:lpstr>
      <vt:lpstr>Codelist Generator </vt:lpstr>
      <vt:lpstr>Codelist Generator </vt:lpstr>
      <vt:lpstr>Breakout Session</vt:lpstr>
      <vt:lpstr>Breakout Session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Breakout Session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landscaping and Feasibility</dc:title>
  <dc:creator>Annika Jodicke</dc:creator>
  <cp:lastModifiedBy>Albert Prats Uribe</cp:lastModifiedBy>
  <cp:revision>18</cp:revision>
  <dcterms:created xsi:type="dcterms:W3CDTF">2024-06-12T08:36:41Z</dcterms:created>
  <dcterms:modified xsi:type="dcterms:W3CDTF">2026-09-17T07:50:00Z</dcterms:modified>
</cp:coreProperties>
</file>